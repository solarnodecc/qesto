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715000" type="screen16x10"/>
  <p:notesSz cx="6858000" cy="9144000"/>
  <p:defaultTextStyle>
    <a:defPPr>
      <a:defRPr lang="nl-NL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45B8EF-5854-44E7-B7D6-C1CE4A3D90EE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396C4-0296-4653-B430-D920E4E5958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1967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This is not a platform tour; it is the operating system behind consistent releases.</a:t>
            </a:r>
          </a:p>
          <a:p>
            <a:r>
              <a:rPr lang="en-US" sz="1400">
                <a:latin typeface="Aptos" panose="020B0004020202020204" pitchFamily="34" charset="0"/>
              </a:rPr>
              <a:t>- Every feature must pass through five layers before we trust it in production.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does reliability usually break first in your team: code quality, process handoff, or operational control?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8121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Each upper layer fails if lower layers are weak.</a:t>
            </a:r>
          </a:p>
          <a:p>
            <a:r>
              <a:rPr lang="en-US" sz="1400">
                <a:latin typeface="Aptos" panose="020B0004020202020204" pitchFamily="34" charset="0"/>
              </a:rPr>
              <a:t>- Velocity comes from automation; safety comes from controls.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layer is usually missing in architecture presentations at your company?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4739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Typed boundaries prevent contract drift.</a:t>
            </a:r>
          </a:p>
          <a:p>
            <a:r>
              <a:rPr lang="en-US" sz="1400">
                <a:latin typeface="Aptos" panose="020B0004020202020204" pitchFamily="34" charset="0"/>
              </a:rPr>
              <a:t>- PR checks validate correctness before merge.</a:t>
            </a:r>
          </a:p>
          <a:p>
            <a:r>
              <a:rPr lang="en-US" sz="1400">
                <a:latin typeface="Aptos" panose="020B0004020202020204" pitchFamily="34" charset="0"/>
              </a:rPr>
              <a:t>- Telemetry closes the loop and informs hardening.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Do you treat observability as the end of delivery, or part of development?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6841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Tooling does not remove ownership; it sharpens it.</a:t>
            </a:r>
          </a:p>
          <a:p>
            <a:r>
              <a:rPr lang="en-US" sz="1400">
                <a:latin typeface="Aptos" panose="020B0004020202020204" pitchFamily="34" charset="0"/>
              </a:rPr>
              <a:t>- No unlabeled handoffs.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Where do handoffs currently lose context in your flow?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8954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AI accelerates execution, markdown defines boundaries.</a:t>
            </a:r>
          </a:p>
          <a:p>
            <a:r>
              <a:rPr lang="en-US" sz="1400">
                <a:latin typeface="Aptos" panose="020B0004020202020204" pitchFamily="34" charset="0"/>
              </a:rPr>
              <a:t>- Specialist agents reduce context switching.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guardrails must exist before AI-generated changes can merge?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7710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Automation is only useful when deterministic.</a:t>
            </a:r>
          </a:p>
          <a:p>
            <a:r>
              <a:rPr lang="en-US" sz="1400">
                <a:latin typeface="Aptos" panose="020B0004020202020204" pitchFamily="34" charset="0"/>
              </a:rPr>
              <a:t>- Pipeline is a gatekeeper, not only a dashboard.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Are your CI signals decision-grade evidence or green/red noise?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1206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Controls enable speed at scale.</a:t>
            </a:r>
          </a:p>
          <a:p>
            <a:r>
              <a:rPr lang="en-US" sz="1400">
                <a:latin typeface="Aptos" panose="020B0004020202020204" pitchFamily="34" charset="0"/>
              </a:rPr>
              <a:t>- Recovery speed is as important as prevention.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a severe issue ships today, how quickly do you get reliable signal?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8244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Fast tests protect developer flow.</a:t>
            </a:r>
          </a:p>
          <a:p>
            <a:r>
              <a:rPr lang="en-US" sz="1400">
                <a:latin typeface="Aptos" panose="020B0004020202020204" pitchFamily="34" charset="0"/>
              </a:rPr>
              <a:t>- Deep tests protect release integrity.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Which stage currently adds most false confidence in your pipeline?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9741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Vitest is a decision system, not only a test runner.</a:t>
            </a:r>
          </a:p>
          <a:p>
            <a:r>
              <a:rPr lang="en-US" sz="1400">
                <a:latin typeface="Aptos" panose="020B0004020202020204" pitchFamily="34" charset="0"/>
              </a:rPr>
              <a:t>- Optimize for fast local feedback + deterministic CI.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What share of failing tests are actionable regressions vs unstable behavior?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1023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Failed tests without owners become organizational debt.</a:t>
            </a:r>
          </a:p>
          <a:p>
            <a:r>
              <a:rPr lang="en-US" sz="1400">
                <a:latin typeface="Aptos" panose="020B0004020202020204" pitchFamily="34" charset="0"/>
              </a:rPr>
              <a:t>- Resolution must improve future signal quality.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Who owns flaky test debt, and what SLA is applied?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1564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Pass does not mean done; each round adds watch items.</a:t>
            </a:r>
          </a:p>
          <a:p>
            <a:r>
              <a:rPr lang="en-US" sz="1400">
                <a:latin typeface="Aptos" panose="020B0004020202020204" pitchFamily="34" charset="0"/>
              </a:rPr>
              <a:t>- Quarterly revalidation keeps design and reality aligned.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How often do you formally revalidate architecture using incident evidence?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80551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Aptos" panose="020B0004020202020204" pitchFamily="34" charset="0"/>
              </a:rPr>
              <a:t>Speaker flow:</a:t>
            </a:r>
          </a:p>
          <a:p>
            <a:r>
              <a:rPr lang="en-US" sz="1400">
                <a:latin typeface="Aptos" panose="020B0004020202020204" pitchFamily="34" charset="0"/>
              </a:rPr>
              <a:t>- Reliability becomes real when attached to metrics.</a:t>
            </a:r>
          </a:p>
          <a:p>
            <a:r>
              <a:rPr lang="en-US" sz="1400">
                <a:latin typeface="Aptos" panose="020B0004020202020204" pitchFamily="34" charset="0"/>
              </a:rPr>
              <a:t>- Next quarter focuses on reducing variability.</a:t>
            </a:r>
          </a:p>
          <a:p>
            <a:endParaRPr lang="en-US" sz="1400">
              <a:latin typeface="Aptos" panose="020B0004020202020204" pitchFamily="34" charset="0"/>
            </a:endParaRPr>
          </a:p>
          <a:p>
            <a:r>
              <a:rPr lang="en-US" sz="1400">
                <a:latin typeface="Aptos" panose="020B0004020202020204" pitchFamily="34" charset="0"/>
              </a:rPr>
              <a:t>Audience question:</a:t>
            </a:r>
          </a:p>
          <a:p>
            <a:r>
              <a:rPr lang="en-US" sz="1400">
                <a:latin typeface="Aptos" panose="020B0004020202020204" pitchFamily="34" charset="0"/>
              </a:rPr>
              <a:t>If you could improve one KPI next quarter, which most increases customer trust?</a:t>
            </a:r>
            <a:endParaRPr lang="nl-NL" sz="1400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396C4-0296-4653-B430-D920E4E59588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875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4A48-FD3E-002D-EDBC-A5229A4F4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A8C8E-628C-E9F5-7A5A-3DFB8C1FD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FA74B-A8F8-11C4-C124-C88C44AC0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221FB-5812-D2AD-494A-D721D842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ACA5-CEFC-37DC-7622-EF5D76E3F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9010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60F6-5655-6393-B964-408A507A0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92A7-4F91-4479-4FE4-854E6D50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C943C-EE85-7852-55D8-AA78CD362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43E79-BEBD-7886-F9B7-2ED88D9E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675E2-70B5-3BD4-9549-2643755F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5131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C5819-25E4-45B6-7C03-40E6C2885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CB8BA-2C36-808C-AA48-5D9DBC391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CEBE3-C8C6-EC46-3267-79B7FE1F3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8BEF-B8CB-6205-BC80-924E4BC9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117A1-B27D-998E-6CEE-CAC1E35D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6798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514D-EA54-8513-9E80-1C7C20BC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D1E76-A59D-AC54-2AD9-BA68B9BB9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CD332-ED02-1A8C-1DD3-1D257D67B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E8D5E-9AC7-739F-5918-DAC061BD5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5FDF8-C416-0E3C-483F-1FC574D68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9DCC5-5C73-DAD7-0A37-B8B99771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698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01DF0-5419-640D-17CE-F48B3536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3DD017-977B-5B60-BBFE-EF8441DFC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BB0F-826C-1172-94AF-32D9E7F9E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34865-B198-11EA-FA01-09CA668562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0B6F8C-684A-6538-4BFA-64A50D6EC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07970-5662-F074-6146-EB4F7AB4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1D07B-2EEB-00DD-E7CB-BB83A449D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8514CF-A536-D12F-D64F-302BE77B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092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2BD6-25D0-953B-3C46-EB4DB7EFD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0E0DE-B9BD-F444-FEB7-D541EBEA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69081-0F8C-0048-77BC-FD6EB8B9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128C8-8B27-9524-0022-5F9AA497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07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775B20-5E88-D43C-5905-4E3F9830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B0EEA-40C9-1C2B-3886-3AB17FA1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B72F9-DCED-3A55-A0E6-E50EFCB3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62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0DBBE-75BF-8471-F999-E1BD3195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326F6-E83E-2573-23FE-484FE05BC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73F6DD-BBB7-7EA8-A7EF-015FEFE38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4F238-33FA-716A-E66C-E56B2B4B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EAE4A-FD9C-3C7D-6A4D-B6768C77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AFE1F-252D-5BEC-BED6-A61EF9F7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1138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3FA3-5780-D646-244C-30C03837D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2CAF41-B881-4C4D-FB52-CCB6A8C84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2F7FC-860B-13BD-ED84-FCBD14EA2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57C21-A00A-4975-EB38-C3A7784F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9337A-386C-7C1A-FD2B-21ECE184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0797C-36F9-3EEE-586D-2BCDE042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592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6042-3588-19A0-2414-DE7C94ED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8CED4-C3EE-67B7-6FD2-494E539B0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0964-74B8-DE61-E1A9-0055C90CD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48095-6777-33C9-228F-84E77D64E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50046-FA54-6536-607C-16B19E54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731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B212FE-42C3-3805-6241-C9625E7BC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BFCCB-05F4-044E-2D2E-E1E2055FE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45FD5-7288-F1E3-D0D1-35D9FCAE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869D2-23B1-1CB1-6EB9-10484358E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40487-F383-F542-2AD6-E3410E805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968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2721-C1E1-A854-9FB9-4DA6E76D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A95BD-52AA-7ABD-C968-65954055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931AD-23F4-369B-7EC2-F8666031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744FD-711B-CDE4-AC8B-7B9FA502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1C104-7168-65D9-5432-ED98EE52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689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DDA3B-079A-9ED1-95D7-E8494821F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760B9-DF45-CC97-8EA6-E71951427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C0F2-A863-69A7-452C-A1F52F1D5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D2C83-34CC-4E32-9827-794D0E53DB97}" type="datetimeFigureOut">
              <a:rPr lang="nl-NL" smtClean="0"/>
              <a:t>28-4-2026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51FDA-3D15-A4AA-E721-345860AACA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84DB3-5595-F3A8-AFCB-6E2A87BED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E0D8E-7533-42A2-A222-96468FA5BA5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653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EE6A-C285-9CD1-3635-8526AC357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1117600"/>
            <a:ext cx="14605000" cy="1989667"/>
          </a:xfrm>
        </p:spPr>
        <p:txBody>
          <a:bodyPr>
            <a:normAutofit/>
          </a:bodyPr>
          <a:lstStyle/>
          <a:p>
            <a:r>
              <a:rPr lang="en-US" sz="4200" b="1">
                <a:latin typeface="Aptos Display" panose="020B0004020202020204" pitchFamily="34" charset="0"/>
              </a:rPr>
              <a:t>From Idea to Edge Reliability</a:t>
            </a:r>
            <a:endParaRPr lang="nl-NL" sz="4200" b="1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05DF4-831A-DBC1-E288-6A4B52925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200" y="2667000"/>
            <a:ext cx="14351000" cy="1379802"/>
          </a:xfrm>
        </p:spPr>
        <p:txBody>
          <a:bodyPr>
            <a:noAutofit/>
          </a:bodyPr>
          <a:lstStyle/>
          <a:p>
            <a:r>
              <a:rPr lang="en-US" sz="1900">
                <a:latin typeface="Aptos" panose="020B0004020202020204" pitchFamily="34" charset="0"/>
              </a:rPr>
              <a:t>Goal: Frame reliability as an end-to-end engineering system.</a:t>
            </a:r>
          </a:p>
          <a:p>
            <a:endParaRPr lang="en-US" sz="1900">
              <a:latin typeface="Aptos" panose="020B0004020202020204" pitchFamily="34" charset="0"/>
            </a:endParaRPr>
          </a:p>
          <a:p>
            <a:r>
              <a:rPr lang="en-US" sz="19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1900">
                <a:latin typeface="Aptos" panose="020B0004020202020204" pitchFamily="34" charset="0"/>
              </a:rPr>
              <a:t>1) Product promise: real-time sessions with low latency.</a:t>
            </a:r>
          </a:p>
          <a:p>
            <a:r>
              <a:rPr lang="en-US" sz="1900">
                <a:latin typeface="Aptos" panose="020B0004020202020204" pitchFamily="34" charset="0"/>
              </a:rPr>
              <a:t>2) Engineering challenge: multi-tenant, secure, edge-first.</a:t>
            </a:r>
          </a:p>
          <a:p>
            <a:r>
              <a:rPr lang="en-US" sz="1900">
                <a:latin typeface="Aptos" panose="020B0004020202020204" pitchFamily="34" charset="0"/>
              </a:rPr>
              <a:t>3) Answer: five connected layers.</a:t>
            </a:r>
            <a:endParaRPr lang="nl-NL" sz="19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09F570-9DFF-B7E6-64D8-AA64568B54BC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4A4E24-A929-775A-0B08-19B6456BFBA4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4A0A66-541B-8917-6160-56D00B5B85BF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E0745-9C46-74F0-8AFE-2CB401AAD184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8F5D68-B9FD-B12A-FA0D-8E4095C0FC31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00DA2-8F2B-8971-19C8-858A44CA4D6E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B1FD86-D01D-D6C2-BFDD-EA2B58FAAC0A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Idea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6284274-242B-A0CE-CDAB-AD512A13CFBB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3A7300-EDAC-D4D9-2343-CA058EC1F2F1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0813138-B7AE-36E0-FCA2-AFBADF1D9DFC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E4F40-51E1-9BCE-3FEF-52FD4D8682A9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6BE2D8A-2CB6-9B7D-99A1-D76DE01C7EB7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7D1D25-3EE3-A209-7522-A22B613D8469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60A6865-E3BE-6274-22E0-DF1E11FF6A6C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A13DB0-5DCF-0B71-AD96-39CA960D8AEA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Observe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77824C6-4A43-C89F-C247-1440AA801370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997E1F-8723-52B3-E4E0-6767A11C528C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Improve</a:t>
            </a:r>
          </a:p>
        </p:txBody>
      </p:sp>
    </p:spTree>
    <p:extLst>
      <p:ext uri="{BB962C8B-B14F-4D97-AF65-F5344CB8AC3E}">
        <p14:creationId xmlns:p14="http://schemas.microsoft.com/office/powerpoint/2010/main" val="183076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3878-19EF-F674-1A87-356454483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The 5-Layer System 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579B6-1AF4-7CE0-386A-EB5B8D1CB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Introduce architecture and delivery in one visual.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Technical Environment</a:t>
            </a:r>
          </a:p>
          <a:p>
            <a:r>
              <a:rPr lang="en-US" sz="2000">
                <a:latin typeface="Aptos" panose="020B0004020202020204" pitchFamily="34" charset="0"/>
              </a:rPr>
              <a:t>2) Workforce and Runtime Actors</a:t>
            </a:r>
          </a:p>
          <a:p>
            <a:r>
              <a:rPr lang="en-US" sz="2000">
                <a:latin typeface="Aptos" panose="020B0004020202020204" pitchFamily="34" charset="0"/>
              </a:rPr>
              <a:t>3) Agents, Skills, Markdown</a:t>
            </a:r>
          </a:p>
          <a:p>
            <a:r>
              <a:rPr lang="en-US" sz="2000">
                <a:latin typeface="Aptos" panose="020B0004020202020204" pitchFamily="34" charset="0"/>
              </a:rPr>
              <a:t>4) Automation Layer</a:t>
            </a:r>
          </a:p>
          <a:p>
            <a:r>
              <a:rPr lang="en-US" sz="2000">
                <a:latin typeface="Aptos" panose="020B0004020202020204" pitchFamily="34" charset="0"/>
              </a:rPr>
              <a:t>5) Control Layer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3FCDD2-737A-D8AA-4053-E7641E39C20B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FCB98-0DF8-FD12-9ED4-CC4852C347DE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System Narrative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C8275A-C0C9-3BD5-1F78-CB488113F798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F61CA7-7134-C19A-F59B-852F941ED99A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60595-09C8-7193-704F-C30CD20DE384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5112D2-5D76-48CB-75D4-C095059F184C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9E2113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5681DA-8688-6959-066F-CABE5C5A0321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Environment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72CB5F2-E361-3EFB-1FBF-67934558A755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182639-3666-8F4B-05E3-AE50097DE248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Workforce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DBD7514-DB46-6507-8B49-2196ECC58C98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D4981-7B2F-C0B8-3DA1-31B089757ED9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82A9A0-E416-F5C0-7907-2BDE9145B94E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10D80-67A1-64A7-750E-216B0E434908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Automation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98C40B2-33B0-B161-0C3E-35ED43743F2C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06EABA-BFAB-64DF-5B2F-93096CADFBEA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9E2113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Control</a:t>
            </a:r>
          </a:p>
        </p:txBody>
      </p:sp>
    </p:spTree>
    <p:extLst>
      <p:ext uri="{BB962C8B-B14F-4D97-AF65-F5344CB8AC3E}">
        <p14:creationId xmlns:p14="http://schemas.microsoft.com/office/powerpoint/2010/main" val="2484357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1C34-5CFF-D243-CDAE-3E2DAE54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Technical Environment: Build to Edge Execution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F491B-B57C-CA7C-CFFB-60CE3903F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Show path from local code to runtime behavior.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Cursor + AI-assisted implementation.</a:t>
            </a:r>
          </a:p>
          <a:p>
            <a:r>
              <a:rPr lang="nl-NL" sz="2000">
                <a:latin typeface="Aptos" panose="020B0004020202020204" pitchFamily="34" charset="0"/>
              </a:rPr>
              <a:t>2) GitHub PR checks and review.</a:t>
            </a:r>
          </a:p>
          <a:p>
            <a:r>
              <a:rPr lang="nl-NL" sz="2000">
                <a:latin typeface="Aptos" panose="020B0004020202020204" pitchFamily="34" charset="0"/>
              </a:rPr>
              <a:t>3) Cloudflare Pages Functions + Durable Objects + D1/KV.</a:t>
            </a:r>
          </a:p>
          <a:p>
            <a:r>
              <a:rPr lang="nl-NL" sz="2000">
                <a:latin typeface="Aptos" panose="020B0004020202020204" pitchFamily="34" charset="0"/>
              </a:rPr>
              <a:t>4) Edge execution + observability feedback.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1D2A7-39FD-2539-4DC5-244EFF420131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ECD55-F9DB-D7F4-99BE-56AA8F35BF1D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F501A4-C238-F15D-5FF8-716BD5423F44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4EE98A-7B77-B8B6-F5A9-7AF4BAA631FC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4C626-433F-C8E1-1C57-283DD43562EE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0EDAA-EB06-8993-CB8F-A2DC6C44D92E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D49A91-803B-B82E-62FC-4513543B6EA2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Dev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3DFCC6ED-10CA-D5EC-19A0-D092A2D5E33B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C124F-6D48-90F9-2B98-EEC583B583F8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5A80145-3A13-2ECA-641E-8C9AE68B03F2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EB1D1-2DBF-6D4E-451D-BC3059AF932E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435CF81-8F66-41D8-32B1-D204C8E4EDD0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57A94A-A33E-A677-B928-4B22465036FF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Cloudflare Deploy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871D61F-95F7-57B9-088C-40C65219774F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8B8514-ADC8-22A8-37DF-0CCDC4D901DA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Edge Runtime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D6A3192-B8B7-D57A-469F-0000B45A6132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196597-24F7-D6AA-830D-F2E3FF39CB58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Telemetry</a:t>
            </a:r>
          </a:p>
        </p:txBody>
      </p:sp>
    </p:spTree>
    <p:extLst>
      <p:ext uri="{BB962C8B-B14F-4D97-AF65-F5344CB8AC3E}">
        <p14:creationId xmlns:p14="http://schemas.microsoft.com/office/powerpoint/2010/main" val="2864269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60B9-EE92-E10A-CA99-D05E6EF2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Workforce and Runtime Ownership Model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019B7-B1C5-78D4-4D08-6D426C5CB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accountability explicit across humans and machine actors.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Human owners: Product, Engineer, Reviewer, Security, DevOps/On-call.</a:t>
            </a:r>
          </a:p>
          <a:p>
            <a:r>
              <a:rPr lang="en-US" sz="2000">
                <a:latin typeface="Aptos" panose="020B0004020202020204" pitchFamily="34" charset="0"/>
              </a:rPr>
              <a:t>2) Machine actors: CI runners, edge workers, Durable Objects, scanners.</a:t>
            </a:r>
          </a:p>
          <a:p>
            <a:r>
              <a:rPr lang="en-US" sz="2000">
                <a:latin typeface="Aptos" panose="020B0004020202020204" pitchFamily="34" charset="0"/>
              </a:rPr>
              <a:t>3) Handoff chain: backlog -&gt; implementation -&gt; review -&gt; release -&gt; incident ownership.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D6637-DAC0-1E1E-17B0-50EA0644589D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7FD36-6194-EB4C-1A70-BC234EEE5E2C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Environment &amp; Ownership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70DA2-0468-06B4-C725-714FBAE9E409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A38E0-F9EC-FD50-295C-EF1E7BD09D32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C83DBA-1CC4-0B51-1BA1-149832E2B08C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59A651-334D-F066-B3FE-79AD9FF0DF43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FF4C95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183433-1449-FCF2-2432-29FDD4A6BDB2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Backlog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D8AD190-1000-4B1C-E480-BD812B824628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10CBBB-7D74-B65B-A641-49DE97B3D0BC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Owner Assigned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BE82F8-0706-9E7C-40D2-9A6E62099E2B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16F1D-D38B-A9D5-A5A9-917DB63B8796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Implement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C4C6493-C808-4A35-BA69-9A7F072E8744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223FB7-C908-FF51-E268-DC56B62B571B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7E12EBD-51C6-AB78-5AC3-1DDD9EF4D9B2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FAD6FA-3896-B256-3AB6-018A0D53730D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Release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9F68EB8-4A0F-498C-8B4B-4C01BE6DE57B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8CC975-CF52-CC07-E752-99608BAEA5A3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FF4C95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On-call</a:t>
            </a:r>
          </a:p>
        </p:txBody>
      </p:sp>
    </p:spTree>
    <p:extLst>
      <p:ext uri="{BB962C8B-B14F-4D97-AF65-F5344CB8AC3E}">
        <p14:creationId xmlns:p14="http://schemas.microsoft.com/office/powerpoint/2010/main" val="181051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9928-60DF-4730-0C04-D6C1A2582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Agents, Skills, and Markdown Control Plane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765E7-AC7F-2982-532F-52D92E1E0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AI acceleration with governance boundaries.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Main agent vs specialist subagents.</a:t>
            </a:r>
          </a:p>
          <a:p>
            <a:r>
              <a:rPr lang="en-US" sz="2000">
                <a:latin typeface="Aptos" panose="020B0004020202020204" pitchFamily="34" charset="0"/>
              </a:rPr>
              <a:t>2) Skills as reusable operating playbooks.</a:t>
            </a:r>
          </a:p>
          <a:p>
            <a:r>
              <a:rPr lang="en-US" sz="2000">
                <a:latin typeface="Aptos" panose="020B0004020202020204" pitchFamily="34" charset="0"/>
              </a:rPr>
              <a:t>3) Markdown as durable policy interface.</a:t>
            </a:r>
          </a:p>
          <a:p>
            <a:r>
              <a:rPr lang="en-US" sz="2000">
                <a:latin typeface="Aptos" panose="020B0004020202020204" pitchFamily="34" charset="0"/>
              </a:rPr>
              <a:t>4) Human review remains merge authority.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34A7E-A2C3-9C60-67CB-E7518A9601B3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611D1-82C7-2ABA-D7B8-2038DA05E492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8B3847-69DA-0941-D7B6-401AF1907834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198EB-6B27-35C1-6C35-F27A8F5E9F49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A92B36-292A-1A0B-45C6-CFF579A855B5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2C714-C1AC-5722-BA26-64A5E085FC88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3E5FC-4822-8571-C234-414D1A692FFE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Task Intake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7686326-3E9E-541A-1B96-908651D3DEF4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25DC84-9622-0168-0D6E-7CD250D49359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Agent Routing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B0501FE-9DA6-41DE-400C-A26A6A2B6ECC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274483-AAC2-F67C-F02A-8BB06558CA1F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Skill Constraints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616D314-9FE9-6F36-9C0F-293FEA643C82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99D07B-0090-6CD3-FB8E-31F996C631D3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Code/Docs Output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594F17C-9FE8-0955-9557-52D3FB1EEDB2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C8D784-0166-7809-1C6B-BD7C41A3842D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Human Review</a:t>
            </a:r>
          </a:p>
        </p:txBody>
      </p:sp>
    </p:spTree>
    <p:extLst>
      <p:ext uri="{BB962C8B-B14F-4D97-AF65-F5344CB8AC3E}">
        <p14:creationId xmlns:p14="http://schemas.microsoft.com/office/powerpoint/2010/main" val="1408338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8D6E-4B24-0BD3-E5DD-250C9C5A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Automation Layer: Deterministic Delivery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F1E99-ECF3-BF2B-59A5-AE7B18452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Explain how automation creates speed with trust.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Triggers: PR, push, scheduled jobs.</a:t>
            </a:r>
          </a:p>
          <a:p>
            <a:r>
              <a:rPr lang="en-US" sz="2000">
                <a:latin typeface="Aptos" panose="020B0004020202020204" pitchFamily="34" charset="0"/>
              </a:rPr>
              <a:t>2) Checks: lint, type-check, tests, coverage, drift, security.</a:t>
            </a:r>
          </a:p>
          <a:p>
            <a:r>
              <a:rPr lang="en-US" sz="2000">
                <a:latin typeface="Aptos" panose="020B0004020202020204" pitchFamily="34" charset="0"/>
              </a:rPr>
              <a:t>3) Gates: pass/fail promotion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Artifacts: logs and trend evidence.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80A8B-D59C-3CE5-3DB0-E76C72EB7933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30B92-F6EC-C589-E4E0-4CCCD727C377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5A4E1C-2780-067C-CE62-BE7B345EA41E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CAEE9-FA49-F7D1-8F91-018B5ED51020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84DAD-67EF-FED4-2640-AA614F444E5E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300FF-ABC5-6128-8751-A6D57400EF91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12248C-1A53-407F-7F10-DBB1FFFCB217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Trigger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36A0884-6981-CA05-8EA9-39FF6937B212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ED3D55-644A-015B-771C-6E42AC317E06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Checks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088D4C2-5BC0-56F5-1B1E-43A0D77CF912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192CAC-4762-170A-0FC2-46501A65F11A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Artifacts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2B4517C-4F63-A92D-6835-340F066F5AB2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06B875-7C45-FA88-8873-3E4D1FD02B8C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Gate Decision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9535AD2-9582-5433-6028-6E9E947DE098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74B938-BC05-FF11-E4A7-9EE33F43C3B8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Promote/Block</a:t>
            </a:r>
          </a:p>
        </p:txBody>
      </p:sp>
    </p:spTree>
    <p:extLst>
      <p:ext uri="{BB962C8B-B14F-4D97-AF65-F5344CB8AC3E}">
        <p14:creationId xmlns:p14="http://schemas.microsoft.com/office/powerpoint/2010/main" val="2200654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B173-E54C-B84A-2FC6-B1BF3711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Control Layer: Prevent, Detect, Correct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2A1C1-D814-50ED-AD8B-C4BE95D49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nl-NL" sz="2000">
                <a:latin typeface="Aptos" panose="020B0004020202020204" pitchFamily="34" charset="0"/>
              </a:rPr>
              <a:t>Goal: Position controls as engineering enablers.</a:t>
            </a:r>
          </a:p>
          <a:p>
            <a:endParaRPr lang="nl-NL" sz="2000">
              <a:latin typeface="Aptos" panose="020B0004020202020204" pitchFamily="34" charset="0"/>
            </a:endParaRPr>
          </a:p>
          <a:p>
            <a:r>
              <a:rPr lang="nl-NL" sz="2000">
                <a:latin typeface="Aptos" panose="020B0004020202020204" pitchFamily="34" charset="0"/>
              </a:rPr>
              <a:t>On-click reveals:</a:t>
            </a:r>
          </a:p>
          <a:p>
            <a:r>
              <a:rPr lang="nl-NL" sz="2000">
                <a:latin typeface="Aptos" panose="020B0004020202020204" pitchFamily="34" charset="0"/>
              </a:rPr>
              <a:t>1) Preventive: RBAC, branch protections, secrets hygiene.</a:t>
            </a:r>
          </a:p>
          <a:p>
            <a:r>
              <a:rPr lang="nl-NL" sz="2000">
                <a:latin typeface="Aptos" panose="020B0004020202020204" pitchFamily="34" charset="0"/>
              </a:rPr>
              <a:t>2) Detective: scans, metrics, alerts, audit trail.</a:t>
            </a:r>
          </a:p>
          <a:p>
            <a:r>
              <a:rPr lang="nl-NL" sz="2000">
                <a:latin typeface="Aptos" panose="020B0004020202020204" pitchFamily="34" charset="0"/>
              </a:rPr>
              <a:t>3) Corrective: rollback, hotfix, postmortem hardening.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1104CF-5851-5DA6-21E2-20A06B796366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E5031-4FB5-224E-7F2C-C0086575334B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Automation &amp;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28B20-31A7-CD2B-7348-0A3CB82405DC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61D4C-09D8-591B-090B-7BF2716022FB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94438F-2391-871A-411A-D3C3E9E064C7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FED2C-2B16-860A-DAC2-6EFAF319C1BB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245FA0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931CA1-1ED1-E7FE-3AF3-BAC10B5B7DBB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Prevent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D89BBBB-B2DC-2724-CB88-A05530735AC5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F6AC02-43CD-EB8C-8E4D-9EC047D1508D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Detect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F5DB9AD-6B87-06FF-AF75-210DF0988FC8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6A9943-1A35-A696-661B-28548AFC639F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Respond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90BA21-F160-FC5F-1754-8374ED6CB067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E2AA0E-C3B0-9656-E5F2-91DC68E12507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Recover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6EDFA1A-2565-491D-4983-D55AC7874216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355224-A0CF-7447-1D8F-784B7743C921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245FA0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Harden</a:t>
            </a:r>
          </a:p>
        </p:txBody>
      </p:sp>
    </p:spTree>
    <p:extLst>
      <p:ext uri="{BB962C8B-B14F-4D97-AF65-F5344CB8AC3E}">
        <p14:creationId xmlns:p14="http://schemas.microsoft.com/office/powerpoint/2010/main" val="2680207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952A-295F-5E1C-3E39-4E5833E9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Testing Strategy: Confidence Pipeline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AC970-368F-6608-C4DF-2E452E0D9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Present testing as staged confidence, not one gate.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Static validation (lint/type/format).</a:t>
            </a:r>
          </a:p>
          <a:p>
            <a:r>
              <a:rPr lang="en-US" sz="2000">
                <a:latin typeface="Aptos" panose="020B0004020202020204" pitchFamily="34" charset="0"/>
              </a:rPr>
              <a:t>2) Unit tests (fast module confidence).</a:t>
            </a:r>
          </a:p>
          <a:p>
            <a:r>
              <a:rPr lang="en-US" sz="2000">
                <a:latin typeface="Aptos" panose="020B0004020202020204" pitchFamily="34" charset="0"/>
              </a:rPr>
              <a:t>3) Integration tests (cross-boundary behavior).</a:t>
            </a:r>
          </a:p>
          <a:p>
            <a:r>
              <a:rPr lang="en-US" sz="2000">
                <a:latin typeface="Aptos" panose="020B0004020202020204" pitchFamily="34" charset="0"/>
              </a:rPr>
              <a:t>4) Stability guard (flaky detection/quarantine).</a:t>
            </a:r>
          </a:p>
          <a:p>
            <a:r>
              <a:rPr lang="en-US" sz="2000">
                <a:latin typeface="Aptos" panose="020B0004020202020204" pitchFamily="34" charset="0"/>
              </a:rPr>
              <a:t>5) Post-merge runtime validation.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9D4AE6-4F92-D571-777E-3D0250471939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3E328-DEB4-56A6-B802-7C90C7D03FF9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6B0A92-360D-60CA-02A9-C8F41AC282E4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37875-1798-DB90-50AB-17CB37D44BFE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290530-8DB1-C700-98CC-984A5F9A8D79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135F8-FF4F-BCC7-0854-CE7AAFEF0368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BBDE44-2CA8-3D6C-7626-4FDF36B81F6E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Static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F0572CC-DAF5-3A1E-D98A-A8F7668185E6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53B3B-F5B2-2D29-BF44-D77E1A5705B4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Unit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8DBECA-C4EF-EB86-2559-1D40B0FF407D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78E0B7-7C06-83C9-08D9-725B43B0776A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930D1F9-1530-97A3-DD3A-39A9F942ACF6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1E4491-12BE-8730-C915-E88D2ECAB562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Stability Guard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A2CBD62-A9A6-7B4B-2980-2613D3EC4D8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368BE7-0885-7CEE-33FF-23B6CB6A04D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Runtime Validation</a:t>
            </a:r>
          </a:p>
        </p:txBody>
      </p:sp>
    </p:spTree>
    <p:extLst>
      <p:ext uri="{BB962C8B-B14F-4D97-AF65-F5344CB8AC3E}">
        <p14:creationId xmlns:p14="http://schemas.microsoft.com/office/powerpoint/2010/main" val="247008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8BB68-9D65-FCA3-1F0D-2D62689B7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Deep Dive: Core Quality Signal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48C56-60BD-DB22-C8EE-7B1FF3D4C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Show how Vitest drives merge and release decisions.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Authoring: tests evolve with code.</a:t>
            </a:r>
          </a:p>
          <a:p>
            <a:r>
              <a:rPr lang="en-US" sz="2000">
                <a:latin typeface="Aptos" panose="020B0004020202020204" pitchFamily="34" charset="0"/>
              </a:rPr>
              <a:t>2) Local run: immediate regression signal.</a:t>
            </a:r>
          </a:p>
          <a:p>
            <a:r>
              <a:rPr lang="en-US" sz="2000">
                <a:latin typeface="Aptos" panose="020B0004020202020204" pitchFamily="34" charset="0"/>
              </a:rPr>
              <a:t>3) CI run: standardized gate behavior.</a:t>
            </a:r>
          </a:p>
          <a:p>
            <a:r>
              <a:rPr lang="en-US" sz="2000">
                <a:latin typeface="Aptos" panose="020B0004020202020204" pitchFamily="34" charset="0"/>
              </a:rPr>
              <a:t>4) Triage: regression vs flaky classification.</a:t>
            </a:r>
          </a:p>
          <a:p>
            <a:r>
              <a:rPr lang="en-US" sz="2000">
                <a:latin typeface="Aptos" panose="020B0004020202020204" pitchFamily="34" charset="0"/>
              </a:rPr>
              <a:t>5) Learning: incidents become permanent tests.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06361-8592-69F2-F2FF-FA68A89E9EEC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0709C-DEBD-F998-8EC7-31CE5C5E3653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D21383-7E9C-35BD-0813-E2427C1C3AE1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81A25-8D55-B7BE-8F19-96DF427A0692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1EAE10-204A-0BFE-C0C6-988F9FACB7B0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B8780-6F8D-F1D6-E361-9DBEDB8D8B6C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E3C71-6712-824F-6C32-A7E8C66630FF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Write Test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73C54E0-AF93-788B-C37E-A1E39160D78B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5A7C06-38CF-FA41-34F0-415D10E3FACC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Local Run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12165C4-D1C9-B257-7E6B-61127C935D85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B721CC-53F9-184D-1942-ED13EFD08EF1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CI Run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66E855-300A-2CD5-E1C2-A18A002645CA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302899-F30E-4D6F-6053-9847C7073D20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Triage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60E4804-4AE3-0C8B-53EF-7752BDDB131C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461943-7C31-FB63-F213-F27030E5F634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Fix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7F51680C-DEA0-7CDE-4FAD-CD11D363D1BF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94205D-8A7C-FCB1-856B-AF6F53C45FF1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Regression Proof</a:t>
            </a:r>
          </a:p>
        </p:txBody>
      </p:sp>
    </p:spTree>
    <p:extLst>
      <p:ext uri="{BB962C8B-B14F-4D97-AF65-F5344CB8AC3E}">
        <p14:creationId xmlns:p14="http://schemas.microsoft.com/office/powerpoint/2010/main" val="236459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D55E9-C7D4-13F7-EE14-463D36DA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Vitest Failure Triage Playbook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6FB2A-EA37-364A-A704-59238D4F9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Make failure response operational and repeatable.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Classify fail: regression, test bug, environment issue, flake.</a:t>
            </a:r>
          </a:p>
          <a:p>
            <a:r>
              <a:rPr lang="en-US" sz="2000">
                <a:latin typeface="Aptos" panose="020B0004020202020204" pitchFamily="34" charset="0"/>
              </a:rPr>
              <a:t>2) Assign owner and fix window.</a:t>
            </a:r>
          </a:p>
          <a:p>
            <a:r>
              <a:rPr lang="en-US" sz="2000">
                <a:latin typeface="Aptos" panose="020B0004020202020204" pitchFamily="34" charset="0"/>
              </a:rPr>
              <a:t>3) Decide: patch now, quarantine, or block release.</a:t>
            </a:r>
          </a:p>
          <a:p>
            <a:r>
              <a:rPr lang="en-US" sz="2000">
                <a:latin typeface="Aptos" panose="020B0004020202020204" pitchFamily="34" charset="0"/>
              </a:rPr>
              <a:t>4) Update suite and policy after resolution.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7D8573-CD16-34D3-C248-007755967F0A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8EC26-0300-3776-8006-1A20705EA13C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Testing &amp; Vitest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6831DB-9164-B6BB-459F-0F213E2E4E67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6E230-5D8B-5A53-7B01-BCA70B831524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21863-DDEF-0EC7-2DE6-5052407FD4F6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7DAFB-030A-468F-6B79-F31BA8A27A01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06CC4B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EEB13D-DBA5-B8C4-5CE9-BE3819C34691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Fail Detected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2D5186E-3701-03A0-CAF4-829DA7AF8BA6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F54440-36E0-91D3-2BDA-1A4E072C55F7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Classify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FDCF748-57C2-6493-F0DC-68BB109799AE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27D029-34E5-86EC-0BC2-84C9837A6121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Assign Owner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24C08E5-2032-2388-3949-0C5BDAE2590C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562EFE-8734-1C45-4E35-2DEB21E29920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Patch/Quarantine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F930264-1F65-8A11-4681-9EDECC7854DA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D17203-5E13-9BAA-A8C1-B45154FB1D9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06CC4B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Policy Update</a:t>
            </a:r>
          </a:p>
        </p:txBody>
      </p:sp>
    </p:spTree>
    <p:extLst>
      <p:ext uri="{BB962C8B-B14F-4D97-AF65-F5344CB8AC3E}">
        <p14:creationId xmlns:p14="http://schemas.microsoft.com/office/powerpoint/2010/main" val="390106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1D075-C6BA-FA5E-AB24-21821917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nl-NL" sz="3400" b="1">
                <a:latin typeface="Aptos Display" panose="020B0004020202020204" pitchFamily="34" charset="0"/>
              </a:rPr>
              <a:t>10-Round Engineering Completeness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9B7AD-70A0-01F1-9CBC-DB182C77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Demonstrate rigor beyond architecture diagrams.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Boundaries and topology.</a:t>
            </a:r>
          </a:p>
          <a:p>
            <a:r>
              <a:rPr lang="en-US" sz="2000">
                <a:latin typeface="Aptos" panose="020B0004020202020204" pitchFamily="34" charset="0"/>
              </a:rPr>
              <a:t>2) Execution path and determinism.</a:t>
            </a:r>
          </a:p>
          <a:p>
            <a:r>
              <a:rPr lang="en-US" sz="2000">
                <a:latin typeface="Aptos" panose="020B0004020202020204" pitchFamily="34" charset="0"/>
              </a:rPr>
              <a:t>3) Ownership and governance.</a:t>
            </a:r>
          </a:p>
          <a:p>
            <a:r>
              <a:rPr lang="en-US" sz="2000">
                <a:latin typeface="Aptos" panose="020B0004020202020204" pitchFamily="34" charset="0"/>
              </a:rPr>
              <a:t>4) Observability and resilience.</a:t>
            </a:r>
          </a:p>
          <a:p>
            <a:r>
              <a:rPr lang="en-US" sz="2000">
                <a:latin typeface="Aptos" panose="020B0004020202020204" pitchFamily="34" charset="0"/>
              </a:rPr>
              <a:t>5) Coverage sweep + watch items.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8F410F-FB0F-1875-8B1F-F9086151DBEB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5BE7CD-D381-D389-13B6-98DBAEB89DAA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16955-7D08-E8FE-92F6-184491805DBB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02957-18D8-ABAF-3068-C163237E3DF6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AEBA49-9DF9-1CA0-17CA-33B8B0CF5035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A9AE5A-5FC5-094D-CCB0-FEE1216E8D1D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88107E-F6A0-3B6E-7E3E-CBC0F2F87949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1-3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AB7D897-373F-1B03-EE08-AB874862DC37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BC6A59-7E3C-AE2C-1A46-D5C68FD79668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4-6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6FD5270-0020-91AC-EB98-49759680A6A1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EE2C4-482A-C5EF-2189-40D8DC61A0A4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7-8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5EE25C2-51A6-F575-E702-F03A6D54EB63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10752-0849-8D92-DF5C-F28B3FBD3C4F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9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F2C040A-DF3E-5753-2133-3BF0A2197BF4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15DAEC-CBFD-47F9-B4A2-74A24CAA4DBA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Round 10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E291A59-355E-5D98-6093-C924B3CA88AD}"/>
              </a:ext>
            </a:extLst>
          </p:cNvPr>
          <p:cNvSpPr/>
          <p:nvPr/>
        </p:nvSpPr>
        <p:spPr>
          <a:xfrm>
            <a:off x="135128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D2F6CF-DFDC-875B-B40B-189BCF5BDAA4}"/>
              </a:ext>
            </a:extLst>
          </p:cNvPr>
          <p:cNvSpPr/>
          <p:nvPr/>
        </p:nvSpPr>
        <p:spPr>
          <a:xfrm>
            <a:off x="13792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Action Plan</a:t>
            </a:r>
          </a:p>
        </p:txBody>
      </p:sp>
    </p:spTree>
    <p:extLst>
      <p:ext uri="{BB962C8B-B14F-4D97-AF65-F5344CB8AC3E}">
        <p14:creationId xmlns:p14="http://schemas.microsoft.com/office/powerpoint/2010/main" val="1602619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37863-081A-F009-677B-495E0C00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914400"/>
            <a:ext cx="14605000" cy="1104636"/>
          </a:xfrm>
        </p:spPr>
        <p:txBody>
          <a:bodyPr>
            <a:normAutofit/>
          </a:bodyPr>
          <a:lstStyle/>
          <a:p>
            <a:r>
              <a:rPr lang="en-US" sz="3400" b="1">
                <a:latin typeface="Aptos Display" panose="020B0004020202020204" pitchFamily="34" charset="0"/>
              </a:rPr>
              <a:t>Engineering Scorecard and Next Quarter</a:t>
            </a:r>
            <a:endParaRPr lang="nl-NL" sz="3400" b="1">
              <a:latin typeface="Aptos Display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3D8A8-2A3B-40DC-7BB8-A4DA32704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1200" y="2159000"/>
            <a:ext cx="14224000" cy="3626115"/>
          </a:xfrm>
        </p:spPr>
        <p:txBody>
          <a:bodyPr>
            <a:normAutofit/>
          </a:bodyPr>
          <a:lstStyle/>
          <a:p>
            <a:r>
              <a:rPr lang="en-US" sz="2000">
                <a:latin typeface="Aptos" panose="020B0004020202020204" pitchFamily="34" charset="0"/>
              </a:rPr>
              <a:t>Goal: End with measurable outcomes and next actions.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r>
              <a:rPr lang="en-US" sz="2000">
                <a:latin typeface="Aptos" panose="020B0004020202020204" pitchFamily="34" charset="0"/>
              </a:rPr>
              <a:t>On-click reveals:</a:t>
            </a:r>
          </a:p>
          <a:p>
            <a:r>
              <a:rPr lang="en-US" sz="2000">
                <a:latin typeface="Aptos" panose="020B0004020202020204" pitchFamily="34" charset="0"/>
              </a:rPr>
              <a:t>1) Core KPIs: lead time, deploy frequency, change-failure rate, MTTR.</a:t>
            </a:r>
          </a:p>
          <a:p>
            <a:r>
              <a:rPr lang="en-US" sz="2000">
                <a:latin typeface="Aptos" panose="020B0004020202020204" pitchFamily="34" charset="0"/>
              </a:rPr>
              <a:t>2) Test KPIs: pass trend, flaky trend, mean time to fix failures.</a:t>
            </a:r>
          </a:p>
          <a:p>
            <a:r>
              <a:rPr lang="en-US" sz="2000">
                <a:latin typeface="Aptos" panose="020B0004020202020204" pitchFamily="34" charset="0"/>
              </a:rPr>
              <a:t>3) Control KPIs: policy violations, alert precision, rollback speed.</a:t>
            </a:r>
          </a:p>
          <a:p>
            <a:r>
              <a:rPr lang="en-US" sz="2000">
                <a:latin typeface="Aptos" panose="020B0004020202020204" pitchFamily="34" charset="0"/>
              </a:rPr>
              <a:t>4) Next 90 days: top 3 hardening priorities.</a:t>
            </a:r>
            <a:endParaRPr lang="nl-NL" sz="2000"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74F08-32D7-243B-218B-54BA4E9A2A5D}"/>
              </a:ext>
            </a:extLst>
          </p:cNvPr>
          <p:cNvSpPr/>
          <p:nvPr/>
        </p:nvSpPr>
        <p:spPr>
          <a:xfrm>
            <a:off x="0" y="0"/>
            <a:ext cx="16256000" cy="4318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320A1-FEB8-A425-CAEA-CC3877674FAC}"/>
              </a:ext>
            </a:extLst>
          </p:cNvPr>
          <p:cNvSpPr txBox="1"/>
          <p:nvPr/>
        </p:nvSpPr>
        <p:spPr>
          <a:xfrm>
            <a:off x="355600" y="76200"/>
            <a:ext cx="457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200" b="1">
                <a:solidFill>
                  <a:srgbClr val="FFFFFF"/>
                </a:solidFill>
                <a:latin typeface="Aptos" panose="020B0004020202020204" pitchFamily="34" charset="0"/>
              </a:rPr>
              <a:t>Review &amp; Scorecard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6F191-4641-AAB1-D182-5AA3472B7189}"/>
              </a:ext>
            </a:extLst>
          </p:cNvPr>
          <p:cNvSpPr/>
          <p:nvPr/>
        </p:nvSpPr>
        <p:spPr>
          <a:xfrm>
            <a:off x="0" y="431800"/>
            <a:ext cx="101600" cy="8712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7CA96-D56A-2EC0-AD6E-FD502FFA58B1}"/>
              </a:ext>
            </a:extLst>
          </p:cNvPr>
          <p:cNvSpPr txBox="1"/>
          <p:nvPr/>
        </p:nvSpPr>
        <p:spPr>
          <a:xfrm>
            <a:off x="9652000" y="8737600"/>
            <a:ext cx="635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808080"/>
                </a:solidFill>
                <a:latin typeface="Aptos" panose="020B0004020202020204" pitchFamily="34" charset="0"/>
              </a:rPr>
              <a:t>Qesto Engineering Story - Interactive Draft</a:t>
            </a:r>
            <a:endParaRPr lang="nl-NL" sz="11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E7DBE-B85A-50F5-8968-A392E96C3A18}"/>
              </a:ext>
            </a:extLst>
          </p:cNvPr>
          <p:cNvSpPr/>
          <p:nvPr/>
        </p:nvSpPr>
        <p:spPr>
          <a:xfrm>
            <a:off x="558800" y="6350000"/>
            <a:ext cx="15113000" cy="1651000"/>
          </a:xfrm>
          <a:prstGeom prst="rect">
            <a:avLst/>
          </a:prstGeom>
          <a:solidFill>
            <a:srgbClr val="E6E6E6"/>
          </a:solidFill>
          <a:ln w="2222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6D288-5610-6810-5135-41E65B102ADD}"/>
              </a:ext>
            </a:extLst>
          </p:cNvPr>
          <p:cNvSpPr txBox="1"/>
          <p:nvPr/>
        </p:nvSpPr>
        <p:spPr>
          <a:xfrm>
            <a:off x="711200" y="6578600"/>
            <a:ext cx="4572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300" b="1">
                <a:solidFill>
                  <a:srgbClr val="6A6A6A"/>
                </a:solidFill>
                <a:latin typeface="Aptos" panose="020B0004020202020204" pitchFamily="34" charset="0"/>
              </a:rPr>
              <a:t>Workflow Diagram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21F244-C22A-C31A-875C-66FA97774B5D}"/>
              </a:ext>
            </a:extLst>
          </p:cNvPr>
          <p:cNvSpPr/>
          <p:nvPr/>
        </p:nvSpPr>
        <p:spPr>
          <a:xfrm>
            <a:off x="7112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Measure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02ED403-F9C8-C126-ACBD-424DB2D33277}"/>
              </a:ext>
            </a:extLst>
          </p:cNvPr>
          <p:cNvSpPr/>
          <p:nvPr/>
        </p:nvSpPr>
        <p:spPr>
          <a:xfrm>
            <a:off x="30480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A2E-669C-9052-5831-0CCA5FB8BAB3}"/>
              </a:ext>
            </a:extLst>
          </p:cNvPr>
          <p:cNvSpPr/>
          <p:nvPr/>
        </p:nvSpPr>
        <p:spPr>
          <a:xfrm>
            <a:off x="33274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Compare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3742DD7-321C-A9BF-BB49-EDEDAA3DC480}"/>
              </a:ext>
            </a:extLst>
          </p:cNvPr>
          <p:cNvSpPr/>
          <p:nvPr/>
        </p:nvSpPr>
        <p:spPr>
          <a:xfrm>
            <a:off x="56642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27276-5144-2C48-A38B-A347D7391DAC}"/>
              </a:ext>
            </a:extLst>
          </p:cNvPr>
          <p:cNvSpPr/>
          <p:nvPr/>
        </p:nvSpPr>
        <p:spPr>
          <a:xfrm>
            <a:off x="59436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Prioritize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0716D81-A331-ACC6-9133-CFA080A5E4AB}"/>
              </a:ext>
            </a:extLst>
          </p:cNvPr>
          <p:cNvSpPr/>
          <p:nvPr/>
        </p:nvSpPr>
        <p:spPr>
          <a:xfrm>
            <a:off x="82804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D52CE-AA7A-37E3-5D3A-48F15F931FB8}"/>
              </a:ext>
            </a:extLst>
          </p:cNvPr>
          <p:cNvSpPr/>
          <p:nvPr/>
        </p:nvSpPr>
        <p:spPr>
          <a:xfrm>
            <a:off x="85598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Execute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53978AB-F3AB-59AF-7C2E-60298B7EA6A7}"/>
              </a:ext>
            </a:extLst>
          </p:cNvPr>
          <p:cNvSpPr/>
          <p:nvPr/>
        </p:nvSpPr>
        <p:spPr>
          <a:xfrm>
            <a:off x="10896600" y="7239000"/>
            <a:ext cx="2286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F8BA9-8E8C-0C2F-E63C-2165E80E54EF}"/>
              </a:ext>
            </a:extLst>
          </p:cNvPr>
          <p:cNvSpPr/>
          <p:nvPr/>
        </p:nvSpPr>
        <p:spPr>
          <a:xfrm>
            <a:off x="11176000" y="6959600"/>
            <a:ext cx="2286000" cy="736600"/>
          </a:xfrm>
          <a:prstGeom prst="rect">
            <a:avLst/>
          </a:prstGeom>
          <a:solidFill>
            <a:srgbClr val="6A6A6A"/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300" b="1">
                <a:solidFill>
                  <a:srgbClr val="FFFFFF"/>
                </a:solidFill>
                <a:latin typeface="Aptos" panose="020B0004020202020204" pitchFamily="34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201492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B4767-91DA-1437-A1C0-0D1440C7C593}"/>
              </a:ext>
            </a:extLst>
          </p:cNvPr>
          <p:cNvSpPr txBox="1"/>
          <p:nvPr/>
        </p:nvSpPr>
        <p:spPr>
          <a:xfrm>
            <a:off x="431800" y="203200"/>
            <a:ext cx="15367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latin typeface="Aptos Display" panose="020B0004020202020204" pitchFamily="34" charset="0"/>
              </a:rPr>
              <a:t>Full 5-Layer Workflow Diagram: Trigger to Controlled Outcome</a:t>
            </a:r>
            <a:endParaRPr lang="nl-NL" sz="2400" b="1">
              <a:latin typeface="Aptos Display" panose="020B00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970BA72-4E23-B6DB-85CB-FEEE6006B8BA}"/>
              </a:ext>
            </a:extLst>
          </p:cNvPr>
          <p:cNvSpPr/>
          <p:nvPr/>
        </p:nvSpPr>
        <p:spPr>
          <a:xfrm>
            <a:off x="254000" y="1117600"/>
            <a:ext cx="2286000" cy="660400"/>
          </a:xfrm>
          <a:prstGeom prst="ellipse">
            <a:avLst/>
          </a:prstGeom>
          <a:solidFill>
            <a:srgbClr val="0000DD"/>
          </a:solidFill>
          <a:ln>
            <a:solidFill>
              <a:srgbClr val="E6D8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b="1">
                <a:latin typeface="Aptos" panose="020B0004020202020204" pitchFamily="34" charset="0"/>
              </a:rPr>
              <a:t>Trigger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D08C1C-744B-58C0-27CC-18D89FDBB972}"/>
              </a:ext>
            </a:extLst>
          </p:cNvPr>
          <p:cNvSpPr/>
          <p:nvPr/>
        </p:nvSpPr>
        <p:spPr>
          <a:xfrm>
            <a:off x="13716000" y="8255000"/>
            <a:ext cx="2286000" cy="609600"/>
          </a:xfrm>
          <a:prstGeom prst="ellipse">
            <a:avLst/>
          </a:prstGeom>
          <a:solidFill>
            <a:srgbClr val="DDDDDD"/>
          </a:solidFill>
          <a:ln>
            <a:solidFill>
              <a:srgbClr val="1BD9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200" b="1">
                <a:latin typeface="Aptos" panose="020B0004020202020204" pitchFamily="34" charset="0"/>
              </a:rPr>
              <a:t>Final Action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7FC4D7-9531-F77C-5C6E-864DD86CC6AD}"/>
              </a:ext>
            </a:extLst>
          </p:cNvPr>
          <p:cNvSpPr/>
          <p:nvPr/>
        </p:nvSpPr>
        <p:spPr>
          <a:xfrm>
            <a:off x="381000" y="9906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1EDCD9-4AC0-4341-B465-EF9BFDB9A811}"/>
              </a:ext>
            </a:extLst>
          </p:cNvPr>
          <p:cNvSpPr txBox="1"/>
          <p:nvPr/>
        </p:nvSpPr>
        <p:spPr>
          <a:xfrm>
            <a:off x="482600" y="10414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9E2113"/>
                </a:solidFill>
                <a:latin typeface="Aptos" panose="020B0004020202020204" pitchFamily="34" charset="0"/>
              </a:rPr>
              <a:t>1) Technical 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B59EE6-AEB9-1CAB-AA89-B7ADC502909B}"/>
              </a:ext>
            </a:extLst>
          </p:cNvPr>
          <p:cNvSpPr/>
          <p:nvPr/>
        </p:nvSpPr>
        <p:spPr>
          <a:xfrm>
            <a:off x="381000" y="23622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47015-6E4E-53F7-F000-99FB436CFBDE}"/>
              </a:ext>
            </a:extLst>
          </p:cNvPr>
          <p:cNvSpPr txBox="1"/>
          <p:nvPr/>
        </p:nvSpPr>
        <p:spPr>
          <a:xfrm>
            <a:off x="482600" y="24130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FF4C95"/>
                </a:solidFill>
                <a:latin typeface="Aptos" panose="020B0004020202020204" pitchFamily="34" charset="0"/>
              </a:rPr>
              <a:t>2) Workforce &amp; Runtime Actors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C9BC9-C4E9-13C4-1FF0-6F759B2E9277}"/>
              </a:ext>
            </a:extLst>
          </p:cNvPr>
          <p:cNvSpPr/>
          <p:nvPr/>
        </p:nvSpPr>
        <p:spPr>
          <a:xfrm>
            <a:off x="381000" y="37338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A1D8E-0A3C-2FC0-76FD-EE90992C6665}"/>
              </a:ext>
            </a:extLst>
          </p:cNvPr>
          <p:cNvSpPr txBox="1"/>
          <p:nvPr/>
        </p:nvSpPr>
        <p:spPr>
          <a:xfrm>
            <a:off x="482600" y="37846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245FA0"/>
                </a:solidFill>
                <a:latin typeface="Aptos" panose="020B0004020202020204" pitchFamily="34" charset="0"/>
              </a:rPr>
              <a:t>3) Agents, Skills, Markdown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3E0E84-BFE3-F774-3F22-94032E65A134}"/>
              </a:ext>
            </a:extLst>
          </p:cNvPr>
          <p:cNvSpPr/>
          <p:nvPr/>
        </p:nvSpPr>
        <p:spPr>
          <a:xfrm>
            <a:off x="381000" y="51054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B81DE4-47D6-5527-96D3-70D26046E4B9}"/>
              </a:ext>
            </a:extLst>
          </p:cNvPr>
          <p:cNvSpPr txBox="1"/>
          <p:nvPr/>
        </p:nvSpPr>
        <p:spPr>
          <a:xfrm>
            <a:off x="482600" y="51562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06CC4B"/>
                </a:solidFill>
                <a:latin typeface="Aptos" panose="020B0004020202020204" pitchFamily="34" charset="0"/>
              </a:rPr>
              <a:t>4) Automation Layer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D4ED1C-B102-35BF-D74B-B4F9FC2AAC4A}"/>
              </a:ext>
            </a:extLst>
          </p:cNvPr>
          <p:cNvSpPr/>
          <p:nvPr/>
        </p:nvSpPr>
        <p:spPr>
          <a:xfrm>
            <a:off x="381000" y="6477000"/>
            <a:ext cx="15494000" cy="1295400"/>
          </a:xfrm>
          <a:prstGeom prst="rect">
            <a:avLst/>
          </a:prstGeom>
          <a:solidFill>
            <a:srgbClr val="F8F8F8"/>
          </a:solidFill>
          <a:ln w="15240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7A2FE-2A02-690D-237B-F598EB7AAC5B}"/>
              </a:ext>
            </a:extLst>
          </p:cNvPr>
          <p:cNvSpPr txBox="1"/>
          <p:nvPr/>
        </p:nvSpPr>
        <p:spPr>
          <a:xfrm>
            <a:off x="482600" y="6527800"/>
            <a:ext cx="406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100" b="1">
                <a:solidFill>
                  <a:srgbClr val="6A6A6A"/>
                </a:solidFill>
                <a:latin typeface="Aptos" panose="020B0004020202020204" pitchFamily="34" charset="0"/>
              </a:rPr>
              <a:t>5) Control Layer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EBBE05-8DDB-4104-5AED-388DFD7645FE}"/>
              </a:ext>
            </a:extLst>
          </p:cNvPr>
          <p:cNvSpPr/>
          <p:nvPr/>
        </p:nvSpPr>
        <p:spPr>
          <a:xfrm>
            <a:off x="2921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Local implementation
src/*, functions/api/*, worker/*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CFF77-A782-BC74-4CDE-CBDD8A645C34}"/>
              </a:ext>
            </a:extLst>
          </p:cNvPr>
          <p:cNvSpPr/>
          <p:nvPr/>
        </p:nvSpPr>
        <p:spPr>
          <a:xfrm>
            <a:off x="5334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GitHub PR
POST /repos/.../pulls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64F0BA-4871-B82D-331E-9D19BB630663}"/>
              </a:ext>
            </a:extLst>
          </p:cNvPr>
          <p:cNvSpPr/>
          <p:nvPr/>
        </p:nvSpPr>
        <p:spPr>
          <a:xfrm>
            <a:off x="7747000" y="1244600"/>
            <a:ext cx="2159000" cy="787400"/>
          </a:xfrm>
          <a:prstGeom prst="rect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Cloudflare deploy
POST /.../deployments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2A7B98-92C1-BD4C-58C4-ACB6FE16B9FF}"/>
              </a:ext>
            </a:extLst>
          </p:cNvPr>
          <p:cNvSpPr/>
          <p:nvPr/>
        </p:nvSpPr>
        <p:spPr>
          <a:xfrm>
            <a:off x="10350500" y="1270000"/>
            <a:ext cx="1092200" cy="736600"/>
          </a:xfrm>
          <a:prstGeom prst="diamond">
            <a:avLst/>
          </a:prstGeom>
          <a:solidFill>
            <a:srgbClr val="9E2113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Healthy?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C01EC-2D31-6DCF-4DF6-93F20FFA5FB2}"/>
              </a:ext>
            </a:extLst>
          </p:cNvPr>
          <p:cNvSpPr/>
          <p:nvPr/>
        </p:nvSpPr>
        <p:spPr>
          <a:xfrm>
            <a:off x="11430000" y="2616200"/>
            <a:ext cx="2159000" cy="787400"/>
          </a:xfrm>
          <a:prstGeom prst="rect">
            <a:avLst/>
          </a:prstGeom>
          <a:solidFill>
            <a:srgbClr val="FF4C9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Ownership routing
GET /api/backlog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CD1FBC-B46F-D0C6-33DE-95C65138CCBE}"/>
              </a:ext>
            </a:extLst>
          </p:cNvPr>
          <p:cNvSpPr/>
          <p:nvPr/>
        </p:nvSpPr>
        <p:spPr>
          <a:xfrm>
            <a:off x="13843000" y="2616200"/>
            <a:ext cx="2159000" cy="787400"/>
          </a:xfrm>
          <a:prstGeom prst="rect">
            <a:avLst/>
          </a:prstGeom>
          <a:solidFill>
            <a:srgbClr val="FF4C95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Runtime execution
POST /api/sessions
WS /api/realtime/{id}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6ABCED-73AB-0057-7E2B-8747090747F2}"/>
              </a:ext>
            </a:extLst>
          </p:cNvPr>
          <p:cNvSpPr/>
          <p:nvPr/>
        </p:nvSpPr>
        <p:spPr>
          <a:xfrm>
            <a:off x="2921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Task intake
POST /agent/tasks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B42C62-E0CD-8D97-86FA-E876FB3EFF37}"/>
              </a:ext>
            </a:extLst>
          </p:cNvPr>
          <p:cNvSpPr/>
          <p:nvPr/>
        </p:nvSpPr>
        <p:spPr>
          <a:xfrm>
            <a:off x="5334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Skill/policy load
GET /docs/spec/*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086414-FAAC-348C-733B-949B83BDE4CB}"/>
              </a:ext>
            </a:extLst>
          </p:cNvPr>
          <p:cNvSpPr/>
          <p:nvPr/>
        </p:nvSpPr>
        <p:spPr>
          <a:xfrm>
            <a:off x="7747000" y="3987800"/>
            <a:ext cx="2159000" cy="787400"/>
          </a:xfrm>
          <a:prstGeom prst="rect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Artifact output
PUT /repos/.../contents/{path}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0D4DE735-C453-9DA2-3F13-02E4E0B73EF2}"/>
              </a:ext>
            </a:extLst>
          </p:cNvPr>
          <p:cNvSpPr/>
          <p:nvPr/>
        </p:nvSpPr>
        <p:spPr>
          <a:xfrm>
            <a:off x="10350500" y="4013200"/>
            <a:ext cx="1219200" cy="736600"/>
          </a:xfrm>
          <a:prstGeom prst="diamond">
            <a:avLst/>
          </a:prstGeom>
          <a:solidFill>
            <a:srgbClr val="245FA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Approved?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13A37A-7818-ADDD-0352-38CC4A80BE6B}"/>
              </a:ext>
            </a:extLst>
          </p:cNvPr>
          <p:cNvSpPr/>
          <p:nvPr/>
        </p:nvSpPr>
        <p:spPr>
          <a:xfrm>
            <a:off x="11684000" y="5359400"/>
            <a:ext cx="2159000" cy="787400"/>
          </a:xfrm>
          <a:prstGeom prst="rect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CI trigger
POST /repos/.../dispatches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DBCF320-CDB0-9B3D-9FE0-B0DCFEC0E499}"/>
              </a:ext>
            </a:extLst>
          </p:cNvPr>
          <p:cNvSpPr/>
          <p:nvPr/>
        </p:nvSpPr>
        <p:spPr>
          <a:xfrm>
            <a:off x="14097000" y="5359400"/>
            <a:ext cx="2159000" cy="787400"/>
          </a:xfrm>
          <a:prstGeom prst="rect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Aptos" panose="020B0004020202020204" pitchFamily="34" charset="0"/>
              </a:rPr>
              <a:t>Quality gates
GET /repos/.../runs/{id}</a:t>
            </a:r>
            <a:endParaRPr lang="nl-NL" sz="9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27" name="Diamond 26">
            <a:extLst>
              <a:ext uri="{FF2B5EF4-FFF2-40B4-BE49-F238E27FC236}">
                <a16:creationId xmlns:a16="http://schemas.microsoft.com/office/drawing/2014/main" id="{AED0C40C-3D36-F4C5-0768-F896EB39B822}"/>
              </a:ext>
            </a:extLst>
          </p:cNvPr>
          <p:cNvSpPr/>
          <p:nvPr/>
        </p:nvSpPr>
        <p:spPr>
          <a:xfrm>
            <a:off x="14097000" y="6273800"/>
            <a:ext cx="1219200" cy="736600"/>
          </a:xfrm>
          <a:prstGeom prst="diamond">
            <a:avLst/>
          </a:prstGeom>
          <a:solidFill>
            <a:srgbClr val="06CC4B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000" b="1">
                <a:solidFill>
                  <a:srgbClr val="FFFFFF"/>
                </a:solidFill>
                <a:latin typeface="Aptos" panose="020B0004020202020204" pitchFamily="34" charset="0"/>
              </a:rPr>
              <a:t>All pass?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1F6B4B-70E1-18E6-B116-0BC6223FA57C}"/>
              </a:ext>
            </a:extLst>
          </p:cNvPr>
          <p:cNvSpPr/>
          <p:nvPr/>
        </p:nvSpPr>
        <p:spPr>
          <a:xfrm>
            <a:off x="2921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Preventive
RBAC / branch protection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B1C05E-E887-CCF6-8F90-093513C68216}"/>
              </a:ext>
            </a:extLst>
          </p:cNvPr>
          <p:cNvSpPr/>
          <p:nvPr/>
        </p:nvSpPr>
        <p:spPr>
          <a:xfrm>
            <a:off x="5334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Detective
logs / metrics / alerts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F15F41-65AF-4228-555B-BD52242C562A}"/>
              </a:ext>
            </a:extLst>
          </p:cNvPr>
          <p:cNvSpPr/>
          <p:nvPr/>
        </p:nvSpPr>
        <p:spPr>
          <a:xfrm>
            <a:off x="7747000" y="6731000"/>
            <a:ext cx="2159000" cy="787400"/>
          </a:xfrm>
          <a:prstGeom prst="rect">
            <a:avLst/>
          </a:prstGeom>
          <a:solidFill>
            <a:srgbClr val="6A6A6A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900" b="1">
                <a:solidFill>
                  <a:srgbClr val="FFFFFF"/>
                </a:solidFill>
                <a:latin typeface="Aptos" panose="020B0004020202020204" pitchFamily="34" charset="0"/>
              </a:rPr>
              <a:t>Corrective
rollback / incident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492F90A-58FD-F94A-12FD-51C029F7EC59}"/>
              </a:ext>
            </a:extLst>
          </p:cNvPr>
          <p:cNvSpPr/>
          <p:nvPr/>
        </p:nvSpPr>
        <p:spPr>
          <a:xfrm>
            <a:off x="5105400" y="1549400"/>
            <a:ext cx="2032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BE8DF8F7-D969-90B9-AEDE-443437FB90CD}"/>
              </a:ext>
            </a:extLst>
          </p:cNvPr>
          <p:cNvSpPr/>
          <p:nvPr/>
        </p:nvSpPr>
        <p:spPr>
          <a:xfrm>
            <a:off x="7518400" y="1549400"/>
            <a:ext cx="2032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C19FF91-D4DB-F068-681D-29057ED146C1}"/>
              </a:ext>
            </a:extLst>
          </p:cNvPr>
          <p:cNvSpPr/>
          <p:nvPr/>
        </p:nvSpPr>
        <p:spPr>
          <a:xfrm>
            <a:off x="9969500" y="1549400"/>
            <a:ext cx="304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1F37BAA-C027-8AFD-A1C5-68EF83BFDC70}"/>
              </a:ext>
            </a:extLst>
          </p:cNvPr>
          <p:cNvSpPr/>
          <p:nvPr/>
        </p:nvSpPr>
        <p:spPr>
          <a:xfrm>
            <a:off x="11328400" y="2921000"/>
            <a:ext cx="152400" cy="2032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1C206993-9ADE-DF87-515E-157E2094764A}"/>
              </a:ext>
            </a:extLst>
          </p:cNvPr>
          <p:cNvSpPr/>
          <p:nvPr/>
        </p:nvSpPr>
        <p:spPr>
          <a:xfrm>
            <a:off x="13741400" y="2921000"/>
            <a:ext cx="152400" cy="2032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CBB571A-752A-B89C-8084-7BC67D5B1678}"/>
              </a:ext>
            </a:extLst>
          </p:cNvPr>
          <p:cNvSpPr/>
          <p:nvPr/>
        </p:nvSpPr>
        <p:spPr>
          <a:xfrm>
            <a:off x="5105400" y="4292600"/>
            <a:ext cx="2032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300E689C-D329-0107-0262-E99E94F586AE}"/>
              </a:ext>
            </a:extLst>
          </p:cNvPr>
          <p:cNvSpPr/>
          <p:nvPr/>
        </p:nvSpPr>
        <p:spPr>
          <a:xfrm>
            <a:off x="7518400" y="4292600"/>
            <a:ext cx="2032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CD64A8B4-E621-FF08-6309-BB61096A1A32}"/>
              </a:ext>
            </a:extLst>
          </p:cNvPr>
          <p:cNvSpPr/>
          <p:nvPr/>
        </p:nvSpPr>
        <p:spPr>
          <a:xfrm>
            <a:off x="9969500" y="4292600"/>
            <a:ext cx="304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C489D7AC-AD63-1AA6-F9DB-6EF7D4961B03}"/>
              </a:ext>
            </a:extLst>
          </p:cNvPr>
          <p:cNvSpPr/>
          <p:nvPr/>
        </p:nvSpPr>
        <p:spPr>
          <a:xfrm>
            <a:off x="13995400" y="5664200"/>
            <a:ext cx="152400" cy="2032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695BFCC-0DDC-29D9-1A50-040CA87BFD96}"/>
              </a:ext>
            </a:extLst>
          </p:cNvPr>
          <p:cNvSpPr/>
          <p:nvPr/>
        </p:nvSpPr>
        <p:spPr>
          <a:xfrm>
            <a:off x="13995400" y="6578600"/>
            <a:ext cx="152400" cy="2032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43B2B66-DAF7-144C-DC24-AA133BAE206A}"/>
              </a:ext>
            </a:extLst>
          </p:cNvPr>
          <p:cNvSpPr/>
          <p:nvPr/>
        </p:nvSpPr>
        <p:spPr>
          <a:xfrm>
            <a:off x="5105400" y="7035800"/>
            <a:ext cx="2032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77D7988-784E-24B6-624C-476050722A59}"/>
              </a:ext>
            </a:extLst>
          </p:cNvPr>
          <p:cNvSpPr/>
          <p:nvPr/>
        </p:nvSpPr>
        <p:spPr>
          <a:xfrm>
            <a:off x="7518400" y="7035800"/>
            <a:ext cx="2032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6B2140-4EDD-1BAC-C31C-739B08023512}"/>
              </a:ext>
            </a:extLst>
          </p:cNvPr>
          <p:cNvSpPr txBox="1"/>
          <p:nvPr/>
        </p:nvSpPr>
        <p:spPr>
          <a:xfrm>
            <a:off x="11684000" y="7747000"/>
            <a:ext cx="40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1000">
                <a:solidFill>
                  <a:srgbClr val="808080"/>
                </a:solidFill>
                <a:latin typeface="Aptos" panose="020B0004020202020204" pitchFamily="34" charset="0"/>
              </a:rPr>
              <a:t>Feedback: observability -&gt; implementation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6BB039-26EB-B6AD-09A0-2C559B62260D}"/>
              </a:ext>
            </a:extLst>
          </p:cNvPr>
          <p:cNvSpPr txBox="1"/>
          <p:nvPr/>
        </p:nvSpPr>
        <p:spPr>
          <a:xfrm>
            <a:off x="11684000" y="8001000"/>
            <a:ext cx="406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808080"/>
                </a:solidFill>
                <a:latin typeface="Aptos" panose="020B0004020202020204" pitchFamily="34" charset="0"/>
              </a:rPr>
              <a:t>Failure loop: corrective -&gt; agent task intake</a:t>
            </a:r>
            <a:endParaRPr lang="nl-NL" sz="1000">
              <a:solidFill>
                <a:srgbClr val="808080"/>
              </a:solidFill>
              <a:latin typeface="Aptos" panose="020B0004020202020204" pitchFamily="34" charset="0"/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6B324ED3-AB89-8E93-8138-AFA898E9413B}"/>
              </a:ext>
            </a:extLst>
          </p:cNvPr>
          <p:cNvSpPr/>
          <p:nvPr/>
        </p:nvSpPr>
        <p:spPr>
          <a:xfrm>
            <a:off x="12446000" y="8483600"/>
            <a:ext cx="11430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002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19891-DB37-DABA-DA6B-D9114EF590D4}"/>
              </a:ext>
            </a:extLst>
          </p:cNvPr>
          <p:cNvSpPr txBox="1"/>
          <p:nvPr/>
        </p:nvSpPr>
        <p:spPr>
          <a:xfrm>
            <a:off x="355600" y="177800"/>
            <a:ext cx="154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2400" b="1">
                <a:latin typeface="Aptos Display" panose="020B0004020202020204" pitchFamily="34" charset="0"/>
              </a:rPr>
              <a:t>Flowchart - Technical Environment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0BC732-EECF-6E92-2DB9-7D7A00BDD838}"/>
              </a:ext>
            </a:extLst>
          </p:cNvPr>
          <p:cNvSpPr/>
          <p:nvPr/>
        </p:nvSpPr>
        <p:spPr>
          <a:xfrm>
            <a:off x="0" y="812800"/>
            <a:ext cx="16256000" cy="76200"/>
          </a:xfrm>
          <a:prstGeom prst="rect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86A551-1C29-F9EC-A3E1-75C2EDBF6F74}"/>
              </a:ext>
            </a:extLst>
          </p:cNvPr>
          <p:cNvSpPr/>
          <p:nvPr/>
        </p:nvSpPr>
        <p:spPr>
          <a:xfrm>
            <a:off x="889000" y="1270000"/>
            <a:ext cx="2921000" cy="787400"/>
          </a:xfrm>
          <a:prstGeom prst="ellipse">
            <a:avLst/>
          </a:prstGeom>
          <a:solidFill>
            <a:srgbClr val="E6E6E6"/>
          </a:solidFill>
          <a:ln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Aptos" panose="020B0004020202020204" pitchFamily="34" charset="0"/>
              </a:rPr>
              <a:t>Trigger
Feature request or code change accepted into implementation queue</a:t>
            </a:r>
            <a:endParaRPr lang="nl-NL" sz="1100" b="1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9F2D3-EE28-AEAA-43C1-4C8FC7F865EE}"/>
              </a:ext>
            </a:extLst>
          </p:cNvPr>
          <p:cNvSpPr/>
          <p:nvPr/>
        </p:nvSpPr>
        <p:spPr>
          <a:xfrm>
            <a:off x="889000" y="26670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1: Local Implementation
Purpose: Engineer updates typed frontend/API/worker modules.
Endpoint examples: src/*, functions/api/*, worker/*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B445B8-97E3-C6F3-5144-A2ECE36D08DD}"/>
              </a:ext>
            </a:extLst>
          </p:cNvPr>
          <p:cNvSpPr/>
          <p:nvPr/>
        </p:nvSpPr>
        <p:spPr>
          <a:xfrm>
            <a:off x="889000" y="41148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2: Pull Request
Purpose: Changes are packaged with review context and checks.
Endpoint examples: POST /repos/{owner}/{repo}/pulls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157446F-9672-D65D-2B33-B139D3E0A3A7}"/>
              </a:ext>
            </a:extLst>
          </p:cNvPr>
          <p:cNvSpPr/>
          <p:nvPr/>
        </p:nvSpPr>
        <p:spPr>
          <a:xfrm>
            <a:off x="7747000" y="3937000"/>
            <a:ext cx="431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AC3FF-376D-6AFB-FE92-B28FCE3D9069}"/>
              </a:ext>
            </a:extLst>
          </p:cNvPr>
          <p:cNvSpPr/>
          <p:nvPr/>
        </p:nvSpPr>
        <p:spPr>
          <a:xfrm>
            <a:off x="889000" y="55626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3: Edge Deployment
Purpose: Candidate release is deployed to Cloudflare edge.
Endpoint examples: POST /client/v4/accounts/{id}/pages/projects/{project}/deployments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3D5C9A6-13D4-3DA0-C6FA-9181E85B7603}"/>
              </a:ext>
            </a:extLst>
          </p:cNvPr>
          <p:cNvSpPr/>
          <p:nvPr/>
        </p:nvSpPr>
        <p:spPr>
          <a:xfrm>
            <a:off x="7747000" y="5384800"/>
            <a:ext cx="431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F3E1AF-66F0-4444-E511-4ADDD1AA21FE}"/>
              </a:ext>
            </a:extLst>
          </p:cNvPr>
          <p:cNvSpPr/>
          <p:nvPr/>
        </p:nvSpPr>
        <p:spPr>
          <a:xfrm>
            <a:off x="889000" y="70104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4: Runtime Validation
Purpose: Health and telemetry confirm safe production behavior.
Endpoint examples: GET /api/observability/metrics, GET /api/observability/logs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9DB75E9-C080-6C2F-E7B8-36BBD8C1CD06}"/>
              </a:ext>
            </a:extLst>
          </p:cNvPr>
          <p:cNvSpPr/>
          <p:nvPr/>
        </p:nvSpPr>
        <p:spPr>
          <a:xfrm>
            <a:off x="7747000" y="6832600"/>
            <a:ext cx="431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41863C5-C13D-6A15-D543-033A2E3E647F}"/>
              </a:ext>
            </a:extLst>
          </p:cNvPr>
          <p:cNvSpPr/>
          <p:nvPr/>
        </p:nvSpPr>
        <p:spPr>
          <a:xfrm>
            <a:off x="3873500" y="1587500"/>
            <a:ext cx="2286000" cy="1778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DFCEAF-4575-A856-1C98-2D1D372BB4C5}"/>
              </a:ext>
            </a:extLst>
          </p:cNvPr>
          <p:cNvSpPr/>
          <p:nvPr/>
        </p:nvSpPr>
        <p:spPr>
          <a:xfrm>
            <a:off x="5969000" y="8356600"/>
            <a:ext cx="4318000" cy="558800"/>
          </a:xfrm>
          <a:prstGeom prst="ellipse">
            <a:avLst/>
          </a:prstGeom>
          <a:solidFill>
            <a:srgbClr val="DDDDDD"/>
          </a:solidFill>
          <a:ln>
            <a:solidFill>
              <a:srgbClr val="9E21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ptos" panose="020B0004020202020204" pitchFamily="34" charset="0"/>
              </a:rPr>
              <a:t>Final Action: Stable edge execution with observability feedback loop</a:t>
            </a:r>
            <a:endParaRPr lang="nl-NL" sz="1200" b="1">
              <a:latin typeface="Aptos" panose="020B00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104A26A-AF6F-852F-D741-B5207EA0023A}"/>
              </a:ext>
            </a:extLst>
          </p:cNvPr>
          <p:cNvSpPr/>
          <p:nvPr/>
        </p:nvSpPr>
        <p:spPr>
          <a:xfrm>
            <a:off x="7747000" y="8001000"/>
            <a:ext cx="431800" cy="152400"/>
          </a:xfrm>
          <a:prstGeom prst="rightArrow">
            <a:avLst/>
          </a:prstGeom>
          <a:solidFill>
            <a:srgbClr val="9E211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6330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BEDBAC-5B74-0983-908C-C6A0EB4E5647}"/>
              </a:ext>
            </a:extLst>
          </p:cNvPr>
          <p:cNvSpPr txBox="1"/>
          <p:nvPr/>
        </p:nvSpPr>
        <p:spPr>
          <a:xfrm>
            <a:off x="355600" y="177800"/>
            <a:ext cx="154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2400" b="1">
                <a:latin typeface="Aptos Display" panose="020B0004020202020204" pitchFamily="34" charset="0"/>
              </a:rPr>
              <a:t>Flowchart - Workforce &amp; Runtime Actors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60D4C5-8613-A9A4-4E94-7A787EA52071}"/>
              </a:ext>
            </a:extLst>
          </p:cNvPr>
          <p:cNvSpPr/>
          <p:nvPr/>
        </p:nvSpPr>
        <p:spPr>
          <a:xfrm>
            <a:off x="0" y="812800"/>
            <a:ext cx="16256000" cy="76200"/>
          </a:xfrm>
          <a:prstGeom prst="rect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E5EE64-05CD-7959-EED4-27A74FF97363}"/>
              </a:ext>
            </a:extLst>
          </p:cNvPr>
          <p:cNvSpPr/>
          <p:nvPr/>
        </p:nvSpPr>
        <p:spPr>
          <a:xfrm>
            <a:off x="889000" y="1270000"/>
            <a:ext cx="2921000" cy="787400"/>
          </a:xfrm>
          <a:prstGeom prst="ellipse">
            <a:avLst/>
          </a:prstGeom>
          <a:solidFill>
            <a:srgbClr val="E6E6E6"/>
          </a:solidFill>
          <a:ln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Aptos" panose="020B0004020202020204" pitchFamily="34" charset="0"/>
              </a:rPr>
              <a:t>Trigger
Backlog item enters delivery pipeline</a:t>
            </a:r>
            <a:endParaRPr lang="nl-NL" sz="1100" b="1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A5211B-5B73-3F97-3081-F8064960BE84}"/>
              </a:ext>
            </a:extLst>
          </p:cNvPr>
          <p:cNvSpPr/>
          <p:nvPr/>
        </p:nvSpPr>
        <p:spPr>
          <a:xfrm>
            <a:off x="889000" y="26670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1: Ownership Routing
Purpose: Work item gets product, engineering, and review owners.
Endpoint examples: GET /api/backlog, PATCH /api/stories/{id}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E5B58-E6C0-85C3-324B-D0BE54DBB2A2}"/>
              </a:ext>
            </a:extLst>
          </p:cNvPr>
          <p:cNvSpPr/>
          <p:nvPr/>
        </p:nvSpPr>
        <p:spPr>
          <a:xfrm>
            <a:off x="889000" y="41148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2: Runtime Actor Mapping
Purpose: CI runners and runtime workers are assigned workload responsibilities.
Endpoint examples: POST /api/sessions, WS /api/realtime/{roomId}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E6C5E79-5AE9-6FCE-43A7-F31EDF56D224}"/>
              </a:ext>
            </a:extLst>
          </p:cNvPr>
          <p:cNvSpPr/>
          <p:nvPr/>
        </p:nvSpPr>
        <p:spPr>
          <a:xfrm>
            <a:off x="7747000" y="3937000"/>
            <a:ext cx="431800" cy="1524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387731-E853-9237-BA2B-1890AAA3B74A}"/>
              </a:ext>
            </a:extLst>
          </p:cNvPr>
          <p:cNvSpPr/>
          <p:nvPr/>
        </p:nvSpPr>
        <p:spPr>
          <a:xfrm>
            <a:off x="889000" y="55626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3: Approval Handoff
Purpose: Reviewer and release owner approve progression criteria.
Endpoint examples: PUT /repos/{owner}/{repo}/pulls/{pull_number}/merge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47789E4-C15F-A3E6-6D60-059AEAB7AD91}"/>
              </a:ext>
            </a:extLst>
          </p:cNvPr>
          <p:cNvSpPr/>
          <p:nvPr/>
        </p:nvSpPr>
        <p:spPr>
          <a:xfrm>
            <a:off x="7747000" y="5384800"/>
            <a:ext cx="431800" cy="1524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4C5AB6-5BD1-01DA-E53B-7FF1252EFAD8}"/>
              </a:ext>
            </a:extLst>
          </p:cNvPr>
          <p:cNvSpPr/>
          <p:nvPr/>
        </p:nvSpPr>
        <p:spPr>
          <a:xfrm>
            <a:off x="889000" y="70104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4: Operational Ownership
Purpose: On-call team receives post-release accountability.
Endpoint examples: POST /api/incidents, GET /api/observability/alerts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3F5F7FF-AA85-F3B0-FADA-003E2822860A}"/>
              </a:ext>
            </a:extLst>
          </p:cNvPr>
          <p:cNvSpPr/>
          <p:nvPr/>
        </p:nvSpPr>
        <p:spPr>
          <a:xfrm>
            <a:off x="7747000" y="6832600"/>
            <a:ext cx="431800" cy="1524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6D4EF04-E237-CD05-1F55-5EBBA7D3D4D1}"/>
              </a:ext>
            </a:extLst>
          </p:cNvPr>
          <p:cNvSpPr/>
          <p:nvPr/>
        </p:nvSpPr>
        <p:spPr>
          <a:xfrm>
            <a:off x="3873500" y="1587500"/>
            <a:ext cx="2286000" cy="1778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AFEE40F-D7FD-8D16-0237-C13EAE5D2163}"/>
              </a:ext>
            </a:extLst>
          </p:cNvPr>
          <p:cNvSpPr/>
          <p:nvPr/>
        </p:nvSpPr>
        <p:spPr>
          <a:xfrm>
            <a:off x="5969000" y="8356600"/>
            <a:ext cx="4318000" cy="558800"/>
          </a:xfrm>
          <a:prstGeom prst="ellipse">
            <a:avLst/>
          </a:prstGeom>
          <a:solidFill>
            <a:srgbClr val="DDDDDD"/>
          </a:solidFill>
          <a:ln>
            <a:solidFill>
              <a:srgbClr val="FF4C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ptos" panose="020B0004020202020204" pitchFamily="34" charset="0"/>
              </a:rPr>
              <a:t>Final Action: Clear accountability from planning to operations</a:t>
            </a:r>
            <a:endParaRPr lang="nl-NL" sz="1200" b="1">
              <a:latin typeface="Aptos" panose="020B00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490B778-5A20-302E-CDEB-56DFDA99B0D4}"/>
              </a:ext>
            </a:extLst>
          </p:cNvPr>
          <p:cNvSpPr/>
          <p:nvPr/>
        </p:nvSpPr>
        <p:spPr>
          <a:xfrm>
            <a:off x="7747000" y="8001000"/>
            <a:ext cx="431800" cy="152400"/>
          </a:xfrm>
          <a:prstGeom prst="rightArrow">
            <a:avLst/>
          </a:prstGeom>
          <a:solidFill>
            <a:srgbClr val="FF4C9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257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1840F-0802-6759-0B28-13A5C214F1B0}"/>
              </a:ext>
            </a:extLst>
          </p:cNvPr>
          <p:cNvSpPr txBox="1"/>
          <p:nvPr/>
        </p:nvSpPr>
        <p:spPr>
          <a:xfrm>
            <a:off x="355600" y="177800"/>
            <a:ext cx="154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2400" b="1">
                <a:latin typeface="Aptos Display" panose="020B0004020202020204" pitchFamily="34" charset="0"/>
              </a:rPr>
              <a:t>Flowchart - Agents, Skills, Markdown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FB3F3-C3B1-74A8-963B-E259ED0D8D84}"/>
              </a:ext>
            </a:extLst>
          </p:cNvPr>
          <p:cNvSpPr/>
          <p:nvPr/>
        </p:nvSpPr>
        <p:spPr>
          <a:xfrm>
            <a:off x="0" y="812800"/>
            <a:ext cx="16256000" cy="76200"/>
          </a:xfrm>
          <a:prstGeom prst="rect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2F5809-7387-F2BD-0268-4BFDC0877AD3}"/>
              </a:ext>
            </a:extLst>
          </p:cNvPr>
          <p:cNvSpPr/>
          <p:nvPr/>
        </p:nvSpPr>
        <p:spPr>
          <a:xfrm>
            <a:off x="889000" y="1270000"/>
            <a:ext cx="2921000" cy="787400"/>
          </a:xfrm>
          <a:prstGeom prst="ellipse">
            <a:avLst/>
          </a:prstGeom>
          <a:solidFill>
            <a:srgbClr val="E6E6E6"/>
          </a:solidFill>
          <a:ln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Aptos" panose="020B0004020202020204" pitchFamily="34" charset="0"/>
              </a:rPr>
              <a:t>Trigger
Engineering task requires AI-assisted delivery</a:t>
            </a:r>
            <a:endParaRPr lang="nl-NL" sz="1100" b="1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DA255E-C78C-94C4-C2F4-E05000C140AE}"/>
              </a:ext>
            </a:extLst>
          </p:cNvPr>
          <p:cNvSpPr/>
          <p:nvPr/>
        </p:nvSpPr>
        <p:spPr>
          <a:xfrm>
            <a:off x="889000" y="26670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1: Task Intake
Purpose: Main agent receives scoped objective and constraints.
Endpoint examples: POST /agent/tasks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ABF0F2-70CA-2D7A-AF52-C4B04B9F407C}"/>
              </a:ext>
            </a:extLst>
          </p:cNvPr>
          <p:cNvSpPr/>
          <p:nvPr/>
        </p:nvSpPr>
        <p:spPr>
          <a:xfrm>
            <a:off x="889000" y="41148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2: Subagent Delegation
Purpose: Domain-specific subtasks are routed to specialists.
Endpoint examples: POST /agent/subtasks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ED766EB-974E-ADB9-29EF-4E2F398EB758}"/>
              </a:ext>
            </a:extLst>
          </p:cNvPr>
          <p:cNvSpPr/>
          <p:nvPr/>
        </p:nvSpPr>
        <p:spPr>
          <a:xfrm>
            <a:off x="7747000" y="3937000"/>
            <a:ext cx="431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296692-49FD-E88B-8AAC-DC92E67337F0}"/>
              </a:ext>
            </a:extLst>
          </p:cNvPr>
          <p:cNvSpPr/>
          <p:nvPr/>
        </p:nvSpPr>
        <p:spPr>
          <a:xfrm>
            <a:off x="889000" y="55626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3: Skill + Rule Loading
Purpose: Skill packs and markdown policies constrain execution.
Endpoint examples: GET /docs/spec/*, GET /AGENTS.md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3E66EDB-A5B6-6CB3-11AD-B367E6792136}"/>
              </a:ext>
            </a:extLst>
          </p:cNvPr>
          <p:cNvSpPr/>
          <p:nvPr/>
        </p:nvSpPr>
        <p:spPr>
          <a:xfrm>
            <a:off x="7747000" y="5384800"/>
            <a:ext cx="431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DA7E1C-55E9-A7FB-D00E-11DE8C61E208}"/>
              </a:ext>
            </a:extLst>
          </p:cNvPr>
          <p:cNvSpPr/>
          <p:nvPr/>
        </p:nvSpPr>
        <p:spPr>
          <a:xfrm>
            <a:off x="889000" y="70104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4: Artifact Production
Purpose: Code, tests, and docs are generated and prepared for review.
Endpoint examples: PUT /repos/{owner}/{repo}/contents/{path}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C64E835-5CAB-9D43-8044-01CD1AB1C111}"/>
              </a:ext>
            </a:extLst>
          </p:cNvPr>
          <p:cNvSpPr/>
          <p:nvPr/>
        </p:nvSpPr>
        <p:spPr>
          <a:xfrm>
            <a:off x="7747000" y="6832600"/>
            <a:ext cx="431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1805E36-218F-89D1-E341-4B43BEB63E5C}"/>
              </a:ext>
            </a:extLst>
          </p:cNvPr>
          <p:cNvSpPr/>
          <p:nvPr/>
        </p:nvSpPr>
        <p:spPr>
          <a:xfrm>
            <a:off x="3873500" y="1587500"/>
            <a:ext cx="2286000" cy="1778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F5ABCC-E44A-48B7-AA12-848477BA5F67}"/>
              </a:ext>
            </a:extLst>
          </p:cNvPr>
          <p:cNvSpPr/>
          <p:nvPr/>
        </p:nvSpPr>
        <p:spPr>
          <a:xfrm>
            <a:off x="5969000" y="8356600"/>
            <a:ext cx="4318000" cy="558800"/>
          </a:xfrm>
          <a:prstGeom prst="ellipse">
            <a:avLst/>
          </a:prstGeom>
          <a:solidFill>
            <a:srgbClr val="DDDDDD"/>
          </a:solidFill>
          <a:ln>
            <a:solidFill>
              <a:srgbClr val="245F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ptos" panose="020B0004020202020204" pitchFamily="34" charset="0"/>
              </a:rPr>
              <a:t>Final Action: Governed AI output accepted through human review</a:t>
            </a:r>
            <a:endParaRPr lang="nl-NL" sz="1200" b="1">
              <a:latin typeface="Aptos" panose="020B00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DECCE91-B5CF-AE12-3D9E-12102D45DC0D}"/>
              </a:ext>
            </a:extLst>
          </p:cNvPr>
          <p:cNvSpPr/>
          <p:nvPr/>
        </p:nvSpPr>
        <p:spPr>
          <a:xfrm>
            <a:off x="7747000" y="8001000"/>
            <a:ext cx="431800" cy="152400"/>
          </a:xfrm>
          <a:prstGeom prst="rightArrow">
            <a:avLst/>
          </a:prstGeom>
          <a:solidFill>
            <a:srgbClr val="245FA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0968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873FA9-40D4-CABB-C137-71CF52439C6B}"/>
              </a:ext>
            </a:extLst>
          </p:cNvPr>
          <p:cNvSpPr txBox="1"/>
          <p:nvPr/>
        </p:nvSpPr>
        <p:spPr>
          <a:xfrm>
            <a:off x="355600" y="177800"/>
            <a:ext cx="154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2400" b="1">
                <a:latin typeface="Aptos Display" panose="020B0004020202020204" pitchFamily="34" charset="0"/>
              </a:rPr>
              <a:t>Flowchart - Automation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B2E512-8393-1EB6-3DF4-FAD04B53E4BA}"/>
              </a:ext>
            </a:extLst>
          </p:cNvPr>
          <p:cNvSpPr/>
          <p:nvPr/>
        </p:nvSpPr>
        <p:spPr>
          <a:xfrm>
            <a:off x="0" y="812800"/>
            <a:ext cx="16256000" cy="76200"/>
          </a:xfrm>
          <a:prstGeom prst="rect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7ADD84-CCBF-5531-0BA3-3DDD9D8431F5}"/>
              </a:ext>
            </a:extLst>
          </p:cNvPr>
          <p:cNvSpPr/>
          <p:nvPr/>
        </p:nvSpPr>
        <p:spPr>
          <a:xfrm>
            <a:off x="889000" y="1270000"/>
            <a:ext cx="2921000" cy="787400"/>
          </a:xfrm>
          <a:prstGeom prst="ellipse">
            <a:avLst/>
          </a:prstGeom>
          <a:solidFill>
            <a:srgbClr val="E6E6E6"/>
          </a:solidFill>
          <a:ln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Aptos" panose="020B0004020202020204" pitchFamily="34" charset="0"/>
              </a:rPr>
              <a:t>Trigger
Repository event or scheduled quality run</a:t>
            </a:r>
            <a:endParaRPr lang="nl-NL" sz="1100" b="1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78CC47-5051-9C09-5B0F-15F28DF6BC64}"/>
              </a:ext>
            </a:extLst>
          </p:cNvPr>
          <p:cNvSpPr/>
          <p:nvPr/>
        </p:nvSpPr>
        <p:spPr>
          <a:xfrm>
            <a:off x="889000" y="26670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>
                <a:latin typeface="Aptos" panose="020B0004020202020204" pitchFamily="34" charset="0"/>
              </a:rPr>
              <a:t>Step 1: CI Trigger
Purpose: Push/PR/schedule starts deterministic automation run.
Endpoint examples: POST /repos/{owner}/{repo}/actions/workflows/{id}/dispatches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AD725-ACD0-2398-3C26-B53842E0CF6B}"/>
              </a:ext>
            </a:extLst>
          </p:cNvPr>
          <p:cNvSpPr/>
          <p:nvPr/>
        </p:nvSpPr>
        <p:spPr>
          <a:xfrm>
            <a:off x="889000" y="41148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2: Quality Gates
Purpose: Lint, type-check, tests, coverage, and scans are executed.
Endpoint examples: GET /repos/{owner}/{repo}/actions/runs/{run_id}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58BA496-59B9-F919-10F3-98218E9DFB73}"/>
              </a:ext>
            </a:extLst>
          </p:cNvPr>
          <p:cNvSpPr/>
          <p:nvPr/>
        </p:nvSpPr>
        <p:spPr>
          <a:xfrm>
            <a:off x="7747000" y="3937000"/>
            <a:ext cx="431800" cy="1524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409E6B-5A43-46DF-2DBC-CA16969D714C}"/>
              </a:ext>
            </a:extLst>
          </p:cNvPr>
          <p:cNvSpPr/>
          <p:nvPr/>
        </p:nvSpPr>
        <p:spPr>
          <a:xfrm>
            <a:off x="889000" y="55626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3: Gate Decision
Purpose: Pipeline evaluates pass/fail and blocks or promotes release.
Endpoint examples: GET /repos/{owner}/{repo}/check-runs/{id}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AFB5451-2350-88FA-01FD-F993848259F9}"/>
              </a:ext>
            </a:extLst>
          </p:cNvPr>
          <p:cNvSpPr/>
          <p:nvPr/>
        </p:nvSpPr>
        <p:spPr>
          <a:xfrm>
            <a:off x="7747000" y="5384800"/>
            <a:ext cx="431800" cy="1524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01104-7BED-87E1-4C49-E98A4A64D4B1}"/>
              </a:ext>
            </a:extLst>
          </p:cNvPr>
          <p:cNvSpPr/>
          <p:nvPr/>
        </p:nvSpPr>
        <p:spPr>
          <a:xfrm>
            <a:off x="889000" y="70104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4: Promotion
Purpose: Passing build merges and deploys with controlled rollout.
Endpoint examples: PUT /repos/{owner}/{repo}/pulls/{pull_number}/merge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A92FD0B-D39C-F32C-5399-B582A4E37C19}"/>
              </a:ext>
            </a:extLst>
          </p:cNvPr>
          <p:cNvSpPr/>
          <p:nvPr/>
        </p:nvSpPr>
        <p:spPr>
          <a:xfrm>
            <a:off x="7747000" y="6832600"/>
            <a:ext cx="431800" cy="1524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D75D8AA-5BC3-BC85-16AF-22E515C162FD}"/>
              </a:ext>
            </a:extLst>
          </p:cNvPr>
          <p:cNvSpPr/>
          <p:nvPr/>
        </p:nvSpPr>
        <p:spPr>
          <a:xfrm>
            <a:off x="3873500" y="1587500"/>
            <a:ext cx="2286000" cy="1778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094649C-75A9-00E4-B7F3-90876A676135}"/>
              </a:ext>
            </a:extLst>
          </p:cNvPr>
          <p:cNvSpPr/>
          <p:nvPr/>
        </p:nvSpPr>
        <p:spPr>
          <a:xfrm>
            <a:off x="5969000" y="8356600"/>
            <a:ext cx="4318000" cy="558800"/>
          </a:xfrm>
          <a:prstGeom prst="ellipse">
            <a:avLst/>
          </a:prstGeom>
          <a:solidFill>
            <a:srgbClr val="DDDDDD"/>
          </a:solidFill>
          <a:ln>
            <a:solidFill>
              <a:srgbClr val="06CC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ptos" panose="020B0004020202020204" pitchFamily="34" charset="0"/>
              </a:rPr>
              <a:t>Final Action: Only validated changes reach production</a:t>
            </a:r>
            <a:endParaRPr lang="nl-NL" sz="1200" b="1">
              <a:latin typeface="Aptos" panose="020B00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DB1057F-7D15-9C93-A616-C694E9695F10}"/>
              </a:ext>
            </a:extLst>
          </p:cNvPr>
          <p:cNvSpPr/>
          <p:nvPr/>
        </p:nvSpPr>
        <p:spPr>
          <a:xfrm>
            <a:off x="7747000" y="8001000"/>
            <a:ext cx="431800" cy="152400"/>
          </a:xfrm>
          <a:prstGeom prst="rightArrow">
            <a:avLst/>
          </a:prstGeom>
          <a:solidFill>
            <a:srgbClr val="06CC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3706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91A66-D448-796C-4A03-7A9C4F532626}"/>
              </a:ext>
            </a:extLst>
          </p:cNvPr>
          <p:cNvSpPr txBox="1"/>
          <p:nvPr/>
        </p:nvSpPr>
        <p:spPr>
          <a:xfrm>
            <a:off x="355600" y="177800"/>
            <a:ext cx="1549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nl-NL" sz="2400" b="1">
                <a:latin typeface="Aptos Display" panose="020B0004020202020204" pitchFamily="34" charset="0"/>
              </a:rPr>
              <a:t>Flowchart - Control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115888-9B2E-CA47-7BB4-69270E48537E}"/>
              </a:ext>
            </a:extLst>
          </p:cNvPr>
          <p:cNvSpPr/>
          <p:nvPr/>
        </p:nvSpPr>
        <p:spPr>
          <a:xfrm>
            <a:off x="0" y="812800"/>
            <a:ext cx="16256000" cy="76200"/>
          </a:xfrm>
          <a:prstGeom prst="rect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A978E6-B452-B23C-7C18-F49F74356809}"/>
              </a:ext>
            </a:extLst>
          </p:cNvPr>
          <p:cNvSpPr/>
          <p:nvPr/>
        </p:nvSpPr>
        <p:spPr>
          <a:xfrm>
            <a:off x="889000" y="1270000"/>
            <a:ext cx="2921000" cy="787400"/>
          </a:xfrm>
          <a:prstGeom prst="ellipse">
            <a:avLst/>
          </a:prstGeom>
          <a:solidFill>
            <a:srgbClr val="E6E6E6"/>
          </a:solidFill>
          <a:ln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latin typeface="Aptos" panose="020B0004020202020204" pitchFamily="34" charset="0"/>
              </a:rPr>
              <a:t>Trigger
Policy violation, anomaly, or incident signal detected</a:t>
            </a:r>
            <a:endParaRPr lang="nl-NL" sz="1100" b="1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B53DE1-40EE-8CDC-6BAC-8E4BB11B9FE7}"/>
              </a:ext>
            </a:extLst>
          </p:cNvPr>
          <p:cNvSpPr/>
          <p:nvPr/>
        </p:nvSpPr>
        <p:spPr>
          <a:xfrm>
            <a:off x="889000" y="26670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1: Preventive Controls
Purpose: RBAC, branch protections, and secret policy reduce risk up front.
Endpoint examples: GET /api/auth/me, POST /api/middleware/rbac/check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34012D-5371-60E8-D077-905A205256CF}"/>
              </a:ext>
            </a:extLst>
          </p:cNvPr>
          <p:cNvSpPr/>
          <p:nvPr/>
        </p:nvSpPr>
        <p:spPr>
          <a:xfrm>
            <a:off x="889000" y="41148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2: Detective Controls
Purpose: Observability and audit trails detect drift and incidents early.
Endpoint examples: GET /api/observability/logs, GET /api/observability/metrics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86A2BF-4061-4D75-2261-5D431E1B4E7C}"/>
              </a:ext>
            </a:extLst>
          </p:cNvPr>
          <p:cNvSpPr/>
          <p:nvPr/>
        </p:nvSpPr>
        <p:spPr>
          <a:xfrm>
            <a:off x="7747000" y="3937000"/>
            <a:ext cx="4318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2C0C2B-EB94-F2C7-0596-F03C77CB812F}"/>
              </a:ext>
            </a:extLst>
          </p:cNvPr>
          <p:cNvSpPr/>
          <p:nvPr/>
        </p:nvSpPr>
        <p:spPr>
          <a:xfrm>
            <a:off x="889000" y="55626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latin typeface="Aptos" panose="020B0004020202020204" pitchFamily="34" charset="0"/>
              </a:rPr>
              <a:t>Step 3: Corrective Controls
Purpose: Rollback and hotfix actions restore service reliability.
Endpoint examples: POST /api/deploy/rollback, POST /api/incidents</a:t>
            </a:r>
            <a:endParaRPr lang="nl-NL" sz="1100">
              <a:latin typeface="Aptos" panose="020B0004020202020204" pitchFamily="34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428D2C2-37FC-43E2-010C-55A7BFD32833}"/>
              </a:ext>
            </a:extLst>
          </p:cNvPr>
          <p:cNvSpPr/>
          <p:nvPr/>
        </p:nvSpPr>
        <p:spPr>
          <a:xfrm>
            <a:off x="7747000" y="5384800"/>
            <a:ext cx="4318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E319B8-324C-27F4-1FAA-D8F9C76CD92A}"/>
              </a:ext>
            </a:extLst>
          </p:cNvPr>
          <p:cNvSpPr/>
          <p:nvPr/>
        </p:nvSpPr>
        <p:spPr>
          <a:xfrm>
            <a:off x="889000" y="7010400"/>
            <a:ext cx="14478000" cy="1168400"/>
          </a:xfrm>
          <a:prstGeom prst="rect">
            <a:avLst/>
          </a:prstGeom>
          <a:solidFill>
            <a:srgbClr val="F8F8F8"/>
          </a:solidFill>
          <a:ln w="15875"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sz="1100">
                <a:latin typeface="Aptos" panose="020B0004020202020204" pitchFamily="34" charset="0"/>
              </a:rPr>
              <a:t>Step 4: Learning Loop
Purpose: Postmortem outcomes update runbooks, tests, and policy.
Endpoint examples: PATCH /api/runbooks/{id}, PUT /repos/{owner}/{repo}/contents/{path}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B364427-4B3A-4974-55E2-A3D3A7B5334F}"/>
              </a:ext>
            </a:extLst>
          </p:cNvPr>
          <p:cNvSpPr/>
          <p:nvPr/>
        </p:nvSpPr>
        <p:spPr>
          <a:xfrm>
            <a:off x="7747000" y="6832600"/>
            <a:ext cx="4318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7E3069-112F-E5EC-3406-39493BED6408}"/>
              </a:ext>
            </a:extLst>
          </p:cNvPr>
          <p:cNvSpPr/>
          <p:nvPr/>
        </p:nvSpPr>
        <p:spPr>
          <a:xfrm>
            <a:off x="3873500" y="1587500"/>
            <a:ext cx="2286000" cy="1778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D19478-1E35-0D41-C103-F74326D734F3}"/>
              </a:ext>
            </a:extLst>
          </p:cNvPr>
          <p:cNvSpPr/>
          <p:nvPr/>
        </p:nvSpPr>
        <p:spPr>
          <a:xfrm>
            <a:off x="5969000" y="8356600"/>
            <a:ext cx="4318000" cy="558800"/>
          </a:xfrm>
          <a:prstGeom prst="ellipse">
            <a:avLst/>
          </a:prstGeom>
          <a:solidFill>
            <a:srgbClr val="DDDDDD"/>
          </a:solidFill>
          <a:ln>
            <a:solidFill>
              <a:srgbClr val="6A6A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ptos" panose="020B0004020202020204" pitchFamily="34" charset="0"/>
              </a:rPr>
              <a:t>Final Action: System resilience improves through controlled remediation</a:t>
            </a:r>
            <a:endParaRPr lang="nl-NL" sz="1200" b="1">
              <a:latin typeface="Aptos" panose="020B00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9B4E682-B0E7-FCB7-F95B-3621E46475BA}"/>
              </a:ext>
            </a:extLst>
          </p:cNvPr>
          <p:cNvSpPr/>
          <p:nvPr/>
        </p:nvSpPr>
        <p:spPr>
          <a:xfrm>
            <a:off x="7747000" y="8001000"/>
            <a:ext cx="431800" cy="152400"/>
          </a:xfrm>
          <a:prstGeom prst="rightArrow">
            <a:avLst/>
          </a:prstGeom>
          <a:solidFill>
            <a:srgbClr val="6A6A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798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2386</Words>
  <Application>Microsoft Office PowerPoint</Application>
  <PresentationFormat>On-screen Show (16:10)</PresentationFormat>
  <Paragraphs>344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From Idea to Edge Reliability</vt:lpstr>
      <vt:lpstr>The 5-Layer System Map</vt:lpstr>
      <vt:lpstr>Technical Environment: Build to Edge Execution</vt:lpstr>
      <vt:lpstr>Workforce and Runtime Ownership Model</vt:lpstr>
      <vt:lpstr>Agents, Skills, and Markdown Control Plane</vt:lpstr>
      <vt:lpstr>Automation Layer: Deterministic Delivery</vt:lpstr>
      <vt:lpstr>Control Layer: Prevent, Detect, Correct</vt:lpstr>
      <vt:lpstr>Testing Strategy: Confidence Pipeline</vt:lpstr>
      <vt:lpstr>Vitest Deep Dive: Core Quality Signal</vt:lpstr>
      <vt:lpstr>Vitest Failure Triage Playbook</vt:lpstr>
      <vt:lpstr>10-Round Engineering Completeness Review</vt:lpstr>
      <vt:lpstr>Engineering Scorecard and Next Quarter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Oostelaar</dc:creator>
  <cp:lastModifiedBy>Jens Oostelaar</cp:lastModifiedBy>
  <cp:revision>1</cp:revision>
  <dcterms:created xsi:type="dcterms:W3CDTF">2026-04-28T18:46:13Z</dcterms:created>
  <dcterms:modified xsi:type="dcterms:W3CDTF">2026-04-28T18:46:13Z</dcterms:modified>
</cp:coreProperties>
</file>
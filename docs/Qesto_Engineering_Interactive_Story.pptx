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715000" type="screen16x10"/>
  <p:notesSz cx="6858000" cy="9144000"/>
  <p:defaultTextStyle>
    <a:defPPr>
      <a:defRPr lang="nl-NL"/>
    </a:defPPr>
    <a:lvl1pPr marL="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53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8714D1-B67D-47EC-A6F4-E21D7A310D88}" type="datetimeFigureOut">
              <a:rPr lang="nl-NL" smtClean="0"/>
              <a:t>28-4-2026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F03EE8-CC46-4CFC-BFA5-78B716C952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94675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>
                <a:latin typeface="Aptos" panose="020B0004020202020204" pitchFamily="34" charset="0"/>
              </a:rPr>
              <a:t>Speaker flow:</a:t>
            </a:r>
          </a:p>
          <a:p>
            <a:r>
              <a:rPr lang="en-US" sz="1400">
                <a:latin typeface="Aptos" panose="020B0004020202020204" pitchFamily="34" charset="0"/>
              </a:rPr>
              <a:t>- This is not a platform tour; it is the operating system behind consistent releases.</a:t>
            </a:r>
          </a:p>
          <a:p>
            <a:r>
              <a:rPr lang="en-US" sz="1400">
                <a:latin typeface="Aptos" panose="020B0004020202020204" pitchFamily="34" charset="0"/>
              </a:rPr>
              <a:t>- Every feature must pass through five layers before we trust it in production.</a:t>
            </a:r>
          </a:p>
          <a:p>
            <a:endParaRPr lang="en-US" sz="1400">
              <a:latin typeface="Aptos" panose="020B0004020202020204" pitchFamily="34" charset="0"/>
            </a:endParaRPr>
          </a:p>
          <a:p>
            <a:r>
              <a:rPr lang="en-US" sz="1400">
                <a:latin typeface="Aptos" panose="020B0004020202020204" pitchFamily="34" charset="0"/>
              </a:rPr>
              <a:t>Audience question:</a:t>
            </a:r>
          </a:p>
          <a:p>
            <a:r>
              <a:rPr lang="en-US" sz="1400">
                <a:latin typeface="Aptos" panose="020B0004020202020204" pitchFamily="34" charset="0"/>
              </a:rPr>
              <a:t>Where does reliability usually break first in your team: code quality, process handoff, or operational control?</a:t>
            </a:r>
            <a:endParaRPr lang="nl-NL" sz="1400">
              <a:latin typeface="Aptos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F03EE8-CC46-4CFC-BFA5-78B716C952CB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244513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>
                <a:latin typeface="Aptos" panose="020B0004020202020204" pitchFamily="34" charset="0"/>
              </a:rPr>
              <a:t>Speaker flow:</a:t>
            </a:r>
          </a:p>
          <a:p>
            <a:r>
              <a:rPr lang="en-US" sz="1400">
                <a:latin typeface="Aptos" panose="020B0004020202020204" pitchFamily="34" charset="0"/>
              </a:rPr>
              <a:t>- Each upper layer fails if lower layers are weak.</a:t>
            </a:r>
          </a:p>
          <a:p>
            <a:r>
              <a:rPr lang="en-US" sz="1400">
                <a:latin typeface="Aptos" panose="020B0004020202020204" pitchFamily="34" charset="0"/>
              </a:rPr>
              <a:t>- Velocity comes from automation; safety comes from controls.</a:t>
            </a:r>
          </a:p>
          <a:p>
            <a:endParaRPr lang="en-US" sz="1400">
              <a:latin typeface="Aptos" panose="020B0004020202020204" pitchFamily="34" charset="0"/>
            </a:endParaRPr>
          </a:p>
          <a:p>
            <a:r>
              <a:rPr lang="en-US" sz="1400">
                <a:latin typeface="Aptos" panose="020B0004020202020204" pitchFamily="34" charset="0"/>
              </a:rPr>
              <a:t>Audience question:</a:t>
            </a:r>
          </a:p>
          <a:p>
            <a:r>
              <a:rPr lang="en-US" sz="1400">
                <a:latin typeface="Aptos" panose="020B0004020202020204" pitchFamily="34" charset="0"/>
              </a:rPr>
              <a:t>Which layer is usually missing in architecture presentations at your company?</a:t>
            </a:r>
            <a:endParaRPr lang="nl-NL" sz="1400">
              <a:latin typeface="Aptos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F03EE8-CC46-4CFC-BFA5-78B716C952CB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513289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>
                <a:latin typeface="Aptos" panose="020B0004020202020204" pitchFamily="34" charset="0"/>
              </a:rPr>
              <a:t>Speaker flow:</a:t>
            </a:r>
          </a:p>
          <a:p>
            <a:r>
              <a:rPr lang="en-US" sz="1400">
                <a:latin typeface="Aptos" panose="020B0004020202020204" pitchFamily="34" charset="0"/>
              </a:rPr>
              <a:t>- Typed boundaries prevent contract drift.</a:t>
            </a:r>
          </a:p>
          <a:p>
            <a:r>
              <a:rPr lang="en-US" sz="1400">
                <a:latin typeface="Aptos" panose="020B0004020202020204" pitchFamily="34" charset="0"/>
              </a:rPr>
              <a:t>- PR checks validate correctness before merge.</a:t>
            </a:r>
          </a:p>
          <a:p>
            <a:r>
              <a:rPr lang="en-US" sz="1400">
                <a:latin typeface="Aptos" panose="020B0004020202020204" pitchFamily="34" charset="0"/>
              </a:rPr>
              <a:t>- Telemetry closes the loop and informs hardening.</a:t>
            </a:r>
          </a:p>
          <a:p>
            <a:endParaRPr lang="en-US" sz="1400">
              <a:latin typeface="Aptos" panose="020B0004020202020204" pitchFamily="34" charset="0"/>
            </a:endParaRPr>
          </a:p>
          <a:p>
            <a:r>
              <a:rPr lang="en-US" sz="1400">
                <a:latin typeface="Aptos" panose="020B0004020202020204" pitchFamily="34" charset="0"/>
              </a:rPr>
              <a:t>Audience question:</a:t>
            </a:r>
          </a:p>
          <a:p>
            <a:r>
              <a:rPr lang="en-US" sz="1400">
                <a:latin typeface="Aptos" panose="020B0004020202020204" pitchFamily="34" charset="0"/>
              </a:rPr>
              <a:t>Do you treat observability as the end of delivery, or part of development?</a:t>
            </a:r>
            <a:endParaRPr lang="nl-NL" sz="1400">
              <a:latin typeface="Aptos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F03EE8-CC46-4CFC-BFA5-78B716C952CB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964035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>
                <a:latin typeface="Aptos" panose="020B0004020202020204" pitchFamily="34" charset="0"/>
              </a:rPr>
              <a:t>Speaker flow:</a:t>
            </a:r>
          </a:p>
          <a:p>
            <a:r>
              <a:rPr lang="en-US" sz="1400">
                <a:latin typeface="Aptos" panose="020B0004020202020204" pitchFamily="34" charset="0"/>
              </a:rPr>
              <a:t>- Tooling does not remove ownership; it sharpens it.</a:t>
            </a:r>
          </a:p>
          <a:p>
            <a:r>
              <a:rPr lang="en-US" sz="1400">
                <a:latin typeface="Aptos" panose="020B0004020202020204" pitchFamily="34" charset="0"/>
              </a:rPr>
              <a:t>- No unlabeled handoffs.</a:t>
            </a:r>
          </a:p>
          <a:p>
            <a:endParaRPr lang="en-US" sz="1400">
              <a:latin typeface="Aptos" panose="020B0004020202020204" pitchFamily="34" charset="0"/>
            </a:endParaRPr>
          </a:p>
          <a:p>
            <a:r>
              <a:rPr lang="en-US" sz="1400">
                <a:latin typeface="Aptos" panose="020B0004020202020204" pitchFamily="34" charset="0"/>
              </a:rPr>
              <a:t>Audience question:</a:t>
            </a:r>
          </a:p>
          <a:p>
            <a:r>
              <a:rPr lang="en-US" sz="1400">
                <a:latin typeface="Aptos" panose="020B0004020202020204" pitchFamily="34" charset="0"/>
              </a:rPr>
              <a:t>Where do handoffs currently lose context in your flow?</a:t>
            </a:r>
            <a:endParaRPr lang="nl-NL" sz="1400">
              <a:latin typeface="Aptos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F03EE8-CC46-4CFC-BFA5-78B716C952CB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925893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>
                <a:latin typeface="Aptos" panose="020B0004020202020204" pitchFamily="34" charset="0"/>
              </a:rPr>
              <a:t>Speaker flow:</a:t>
            </a:r>
          </a:p>
          <a:p>
            <a:r>
              <a:rPr lang="en-US" sz="1400">
                <a:latin typeface="Aptos" panose="020B0004020202020204" pitchFamily="34" charset="0"/>
              </a:rPr>
              <a:t>- AI accelerates execution, markdown defines boundaries.</a:t>
            </a:r>
          </a:p>
          <a:p>
            <a:r>
              <a:rPr lang="en-US" sz="1400">
                <a:latin typeface="Aptos" panose="020B0004020202020204" pitchFamily="34" charset="0"/>
              </a:rPr>
              <a:t>- Specialist agents reduce context switching.</a:t>
            </a:r>
          </a:p>
          <a:p>
            <a:endParaRPr lang="en-US" sz="1400">
              <a:latin typeface="Aptos" panose="020B0004020202020204" pitchFamily="34" charset="0"/>
            </a:endParaRPr>
          </a:p>
          <a:p>
            <a:r>
              <a:rPr lang="en-US" sz="1400">
                <a:latin typeface="Aptos" panose="020B0004020202020204" pitchFamily="34" charset="0"/>
              </a:rPr>
              <a:t>Audience question:</a:t>
            </a:r>
          </a:p>
          <a:p>
            <a:r>
              <a:rPr lang="en-US" sz="1400">
                <a:latin typeface="Aptos" panose="020B0004020202020204" pitchFamily="34" charset="0"/>
              </a:rPr>
              <a:t>What guardrails must exist before AI-generated changes can merge?</a:t>
            </a:r>
            <a:endParaRPr lang="nl-NL" sz="1400">
              <a:latin typeface="Aptos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F03EE8-CC46-4CFC-BFA5-78B716C952CB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738632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>
                <a:latin typeface="Aptos" panose="020B0004020202020204" pitchFamily="34" charset="0"/>
              </a:rPr>
              <a:t>Speaker flow:</a:t>
            </a:r>
          </a:p>
          <a:p>
            <a:r>
              <a:rPr lang="en-US" sz="1400">
                <a:latin typeface="Aptos" panose="020B0004020202020204" pitchFamily="34" charset="0"/>
              </a:rPr>
              <a:t>- Automation is only useful when deterministic.</a:t>
            </a:r>
          </a:p>
          <a:p>
            <a:r>
              <a:rPr lang="en-US" sz="1400">
                <a:latin typeface="Aptos" panose="020B0004020202020204" pitchFamily="34" charset="0"/>
              </a:rPr>
              <a:t>- Pipeline is a gatekeeper, not only a dashboard.</a:t>
            </a:r>
          </a:p>
          <a:p>
            <a:endParaRPr lang="en-US" sz="1400">
              <a:latin typeface="Aptos" panose="020B0004020202020204" pitchFamily="34" charset="0"/>
            </a:endParaRPr>
          </a:p>
          <a:p>
            <a:r>
              <a:rPr lang="en-US" sz="1400">
                <a:latin typeface="Aptos" panose="020B0004020202020204" pitchFamily="34" charset="0"/>
              </a:rPr>
              <a:t>Audience question:</a:t>
            </a:r>
          </a:p>
          <a:p>
            <a:r>
              <a:rPr lang="en-US" sz="1400">
                <a:latin typeface="Aptos" panose="020B0004020202020204" pitchFamily="34" charset="0"/>
              </a:rPr>
              <a:t>Are your CI signals decision-grade evidence or green/red noise?</a:t>
            </a:r>
            <a:endParaRPr lang="nl-NL" sz="1400">
              <a:latin typeface="Aptos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F03EE8-CC46-4CFC-BFA5-78B716C952CB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976651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>
                <a:latin typeface="Aptos" panose="020B0004020202020204" pitchFamily="34" charset="0"/>
              </a:rPr>
              <a:t>Speaker flow:</a:t>
            </a:r>
          </a:p>
          <a:p>
            <a:r>
              <a:rPr lang="en-US" sz="1400">
                <a:latin typeface="Aptos" panose="020B0004020202020204" pitchFamily="34" charset="0"/>
              </a:rPr>
              <a:t>- Controls enable speed at scale.</a:t>
            </a:r>
          </a:p>
          <a:p>
            <a:r>
              <a:rPr lang="en-US" sz="1400">
                <a:latin typeface="Aptos" panose="020B0004020202020204" pitchFamily="34" charset="0"/>
              </a:rPr>
              <a:t>- Recovery speed is as important as prevention.</a:t>
            </a:r>
          </a:p>
          <a:p>
            <a:endParaRPr lang="en-US" sz="1400">
              <a:latin typeface="Aptos" panose="020B0004020202020204" pitchFamily="34" charset="0"/>
            </a:endParaRPr>
          </a:p>
          <a:p>
            <a:r>
              <a:rPr lang="en-US" sz="1400">
                <a:latin typeface="Aptos" panose="020B0004020202020204" pitchFamily="34" charset="0"/>
              </a:rPr>
              <a:t>Audience question:</a:t>
            </a:r>
          </a:p>
          <a:p>
            <a:r>
              <a:rPr lang="en-US" sz="1400">
                <a:latin typeface="Aptos" panose="020B0004020202020204" pitchFamily="34" charset="0"/>
              </a:rPr>
              <a:t>If a severe issue ships today, how quickly do you get reliable signal?</a:t>
            </a:r>
            <a:endParaRPr lang="nl-NL" sz="1400">
              <a:latin typeface="Aptos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F03EE8-CC46-4CFC-BFA5-78B716C952CB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03275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>
                <a:latin typeface="Aptos" panose="020B0004020202020204" pitchFamily="34" charset="0"/>
              </a:rPr>
              <a:t>Speaker flow:</a:t>
            </a:r>
          </a:p>
          <a:p>
            <a:r>
              <a:rPr lang="en-US" sz="1400">
                <a:latin typeface="Aptos" panose="020B0004020202020204" pitchFamily="34" charset="0"/>
              </a:rPr>
              <a:t>- Fast tests protect developer flow.</a:t>
            </a:r>
          </a:p>
          <a:p>
            <a:r>
              <a:rPr lang="en-US" sz="1400">
                <a:latin typeface="Aptos" panose="020B0004020202020204" pitchFamily="34" charset="0"/>
              </a:rPr>
              <a:t>- Deep tests protect release integrity.</a:t>
            </a:r>
          </a:p>
          <a:p>
            <a:endParaRPr lang="en-US" sz="1400">
              <a:latin typeface="Aptos" panose="020B0004020202020204" pitchFamily="34" charset="0"/>
            </a:endParaRPr>
          </a:p>
          <a:p>
            <a:r>
              <a:rPr lang="en-US" sz="1400">
                <a:latin typeface="Aptos" panose="020B0004020202020204" pitchFamily="34" charset="0"/>
              </a:rPr>
              <a:t>Audience question:</a:t>
            </a:r>
          </a:p>
          <a:p>
            <a:r>
              <a:rPr lang="en-US" sz="1400">
                <a:latin typeface="Aptos" panose="020B0004020202020204" pitchFamily="34" charset="0"/>
              </a:rPr>
              <a:t>Which stage currently adds most false confidence in your pipeline?</a:t>
            </a:r>
            <a:endParaRPr lang="nl-NL" sz="1400">
              <a:latin typeface="Aptos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F03EE8-CC46-4CFC-BFA5-78B716C952CB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252062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>
                <a:latin typeface="Aptos" panose="020B0004020202020204" pitchFamily="34" charset="0"/>
              </a:rPr>
              <a:t>Speaker flow:</a:t>
            </a:r>
          </a:p>
          <a:p>
            <a:r>
              <a:rPr lang="en-US" sz="1400">
                <a:latin typeface="Aptos" panose="020B0004020202020204" pitchFamily="34" charset="0"/>
              </a:rPr>
              <a:t>- Vitest is a decision system, not only a test runner.</a:t>
            </a:r>
          </a:p>
          <a:p>
            <a:r>
              <a:rPr lang="en-US" sz="1400">
                <a:latin typeface="Aptos" panose="020B0004020202020204" pitchFamily="34" charset="0"/>
              </a:rPr>
              <a:t>- Optimize for fast local feedback + deterministic CI.</a:t>
            </a:r>
          </a:p>
          <a:p>
            <a:endParaRPr lang="en-US" sz="1400">
              <a:latin typeface="Aptos" panose="020B0004020202020204" pitchFamily="34" charset="0"/>
            </a:endParaRPr>
          </a:p>
          <a:p>
            <a:r>
              <a:rPr lang="en-US" sz="1400">
                <a:latin typeface="Aptos" panose="020B0004020202020204" pitchFamily="34" charset="0"/>
              </a:rPr>
              <a:t>Audience question:</a:t>
            </a:r>
          </a:p>
          <a:p>
            <a:r>
              <a:rPr lang="en-US" sz="1400">
                <a:latin typeface="Aptos" panose="020B0004020202020204" pitchFamily="34" charset="0"/>
              </a:rPr>
              <a:t>What share of failing tests are actionable regressions vs unstable behavior?</a:t>
            </a:r>
            <a:endParaRPr lang="nl-NL" sz="1400">
              <a:latin typeface="Aptos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F03EE8-CC46-4CFC-BFA5-78B716C952CB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192186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>
                <a:latin typeface="Aptos" panose="020B0004020202020204" pitchFamily="34" charset="0"/>
              </a:rPr>
              <a:t>Speaker flow:</a:t>
            </a:r>
          </a:p>
          <a:p>
            <a:r>
              <a:rPr lang="en-US" sz="1400">
                <a:latin typeface="Aptos" panose="020B0004020202020204" pitchFamily="34" charset="0"/>
              </a:rPr>
              <a:t>- Failed tests without owners become organizational debt.</a:t>
            </a:r>
          </a:p>
          <a:p>
            <a:r>
              <a:rPr lang="en-US" sz="1400">
                <a:latin typeface="Aptos" panose="020B0004020202020204" pitchFamily="34" charset="0"/>
              </a:rPr>
              <a:t>- Resolution must improve future signal quality.</a:t>
            </a:r>
          </a:p>
          <a:p>
            <a:endParaRPr lang="en-US" sz="1400">
              <a:latin typeface="Aptos" panose="020B0004020202020204" pitchFamily="34" charset="0"/>
            </a:endParaRPr>
          </a:p>
          <a:p>
            <a:r>
              <a:rPr lang="en-US" sz="1400">
                <a:latin typeface="Aptos" panose="020B0004020202020204" pitchFamily="34" charset="0"/>
              </a:rPr>
              <a:t>Audience question:</a:t>
            </a:r>
          </a:p>
          <a:p>
            <a:r>
              <a:rPr lang="en-US" sz="1400">
                <a:latin typeface="Aptos" panose="020B0004020202020204" pitchFamily="34" charset="0"/>
              </a:rPr>
              <a:t>Who owns flaky test debt, and what SLA is applied?</a:t>
            </a:r>
            <a:endParaRPr lang="nl-NL" sz="1400">
              <a:latin typeface="Aptos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F03EE8-CC46-4CFC-BFA5-78B716C952CB}" type="slidenum">
              <a:rPr lang="nl-NL" smtClean="0"/>
              <a:t>10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597490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>
                <a:latin typeface="Aptos" panose="020B0004020202020204" pitchFamily="34" charset="0"/>
              </a:rPr>
              <a:t>Speaker flow:</a:t>
            </a:r>
          </a:p>
          <a:p>
            <a:r>
              <a:rPr lang="en-US" sz="1400">
                <a:latin typeface="Aptos" panose="020B0004020202020204" pitchFamily="34" charset="0"/>
              </a:rPr>
              <a:t>- Pass does not mean done; each round adds watch items.</a:t>
            </a:r>
          </a:p>
          <a:p>
            <a:r>
              <a:rPr lang="en-US" sz="1400">
                <a:latin typeface="Aptos" panose="020B0004020202020204" pitchFamily="34" charset="0"/>
              </a:rPr>
              <a:t>- Quarterly revalidation keeps design and reality aligned.</a:t>
            </a:r>
          </a:p>
          <a:p>
            <a:endParaRPr lang="en-US" sz="1400">
              <a:latin typeface="Aptos" panose="020B0004020202020204" pitchFamily="34" charset="0"/>
            </a:endParaRPr>
          </a:p>
          <a:p>
            <a:r>
              <a:rPr lang="en-US" sz="1400">
                <a:latin typeface="Aptos" panose="020B0004020202020204" pitchFamily="34" charset="0"/>
              </a:rPr>
              <a:t>Audience question:</a:t>
            </a:r>
          </a:p>
          <a:p>
            <a:r>
              <a:rPr lang="en-US" sz="1400">
                <a:latin typeface="Aptos" panose="020B0004020202020204" pitchFamily="34" charset="0"/>
              </a:rPr>
              <a:t>How often do you formally revalidate architecture using incident evidence?</a:t>
            </a:r>
            <a:endParaRPr lang="nl-NL" sz="1400">
              <a:latin typeface="Aptos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F03EE8-CC46-4CFC-BFA5-78B716C952CB}" type="slidenum">
              <a:rPr lang="nl-NL" smtClean="0"/>
              <a:t>11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72709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>
                <a:latin typeface="Aptos" panose="020B0004020202020204" pitchFamily="34" charset="0"/>
              </a:rPr>
              <a:t>Speaker flow:</a:t>
            </a:r>
          </a:p>
          <a:p>
            <a:r>
              <a:rPr lang="en-US" sz="1400">
                <a:latin typeface="Aptos" panose="020B0004020202020204" pitchFamily="34" charset="0"/>
              </a:rPr>
              <a:t>- Reliability becomes real when attached to metrics.</a:t>
            </a:r>
          </a:p>
          <a:p>
            <a:r>
              <a:rPr lang="en-US" sz="1400">
                <a:latin typeface="Aptos" panose="020B0004020202020204" pitchFamily="34" charset="0"/>
              </a:rPr>
              <a:t>- Next quarter focuses on reducing variability.</a:t>
            </a:r>
          </a:p>
          <a:p>
            <a:endParaRPr lang="en-US" sz="1400">
              <a:latin typeface="Aptos" panose="020B0004020202020204" pitchFamily="34" charset="0"/>
            </a:endParaRPr>
          </a:p>
          <a:p>
            <a:r>
              <a:rPr lang="en-US" sz="1400">
                <a:latin typeface="Aptos" panose="020B0004020202020204" pitchFamily="34" charset="0"/>
              </a:rPr>
              <a:t>Audience question:</a:t>
            </a:r>
          </a:p>
          <a:p>
            <a:r>
              <a:rPr lang="en-US" sz="1400">
                <a:latin typeface="Aptos" panose="020B0004020202020204" pitchFamily="34" charset="0"/>
              </a:rPr>
              <a:t>If you could improve one KPI next quarter, which most increases customer trust?</a:t>
            </a:r>
            <a:endParaRPr lang="nl-NL" sz="1400">
              <a:latin typeface="Aptos" panose="020B00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F03EE8-CC46-4CFC-BFA5-78B716C952CB}" type="slidenum">
              <a:rPr lang="nl-NL" smtClean="0"/>
              <a:t>12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288985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780EB-9807-A4AF-A16C-7E36BA9CFE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5868BB-E08D-E31B-6CB9-5ADA72D90B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714FAF-4921-6D6F-0BAF-6EB14C413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054BA-5CD9-4AD2-9572-940AE2B58ED9}" type="datetimeFigureOut">
              <a:rPr lang="nl-NL" smtClean="0"/>
              <a:t>28-4-2026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A91693-0248-95E4-17F8-8AD3CEB1A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60C59C-3987-43DE-DBAC-926DF459F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45771-E94B-4B2B-A7B7-5691599A402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50019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44817-00B9-88CE-6516-4436AD2AF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478B6-1458-9935-0A3B-9040870F8C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9F464B-C349-B096-2F52-04BD5636D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054BA-5CD9-4AD2-9572-940AE2B58ED9}" type="datetimeFigureOut">
              <a:rPr lang="nl-NL" smtClean="0"/>
              <a:t>28-4-2026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CEA145-A7D4-8B5C-42D0-D123DE76A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BB9DF6-FEE4-4481-919D-D20EF6427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45771-E94B-4B2B-A7B7-5691599A402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630537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1F49E-7DC4-B31D-D7BA-02CCD244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86D96-6209-C8B4-04D2-6F43592D7B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ECE17-620A-C7A3-96E9-3090318EB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054BA-5CD9-4AD2-9572-940AE2B58ED9}" type="datetimeFigureOut">
              <a:rPr lang="nl-NL" smtClean="0"/>
              <a:t>28-4-2026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FEA1E-57AF-D72F-711D-9D35E37E0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4E38E-9CDE-101B-B24C-C012E054C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45771-E94B-4B2B-A7B7-5691599A402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24589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0F11D-E0C7-1CF2-C28B-FF321A7D4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59C49-1CCE-568F-4ED8-B77FFE336E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929698-E034-01F9-669F-94E1D38251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93ABC-83E5-446D-4AE9-9110F7210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054BA-5CD9-4AD2-9572-940AE2B58ED9}" type="datetimeFigureOut">
              <a:rPr lang="nl-NL" smtClean="0"/>
              <a:t>28-4-2026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F51DB4-8677-5DF8-E7DB-4EB02BBA9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777DCB-F556-0A97-91E8-8757EC52B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45771-E94B-4B2B-A7B7-5691599A402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81559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E8C4C-ABF4-4207-0623-46278FC94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EDAF21-8C1A-A348-5F2E-96982C2F2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C8DB07-FCE2-51A0-C877-8C1C3AB6DE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FEFB3E-F7E0-C249-3FEC-B5BD107C02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65F672-D96B-8904-68D9-7EFBE10E9E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4FA194-C3AE-978B-D710-7395C9227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054BA-5CD9-4AD2-9572-940AE2B58ED9}" type="datetimeFigureOut">
              <a:rPr lang="nl-NL" smtClean="0"/>
              <a:t>28-4-2026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CF78E9-0596-E1FD-562E-AEE70E49E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8B1130-AAF1-4029-4B11-547177195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45771-E94B-4B2B-A7B7-5691599A402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29786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8165B-530C-64B2-9060-33B4E1334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7D804D-FE03-BC3E-FBE9-72C871B15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054BA-5CD9-4AD2-9572-940AE2B58ED9}" type="datetimeFigureOut">
              <a:rPr lang="nl-NL" smtClean="0"/>
              <a:t>28-4-2026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C6290D-B497-AE4D-FEAE-9B8AFB8D0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64E1B1-2247-2E0B-4800-660EDB8AD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45771-E94B-4B2B-A7B7-5691599A402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600410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D7945D-1F84-C635-D194-C8F9A828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054BA-5CD9-4AD2-9572-940AE2B58ED9}" type="datetimeFigureOut">
              <a:rPr lang="nl-NL" smtClean="0"/>
              <a:t>28-4-2026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D7321A-1B27-9FBF-E19E-0798FA3C1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796D7-E2B2-D449-E57A-85103FCB7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45771-E94B-4B2B-A7B7-5691599A402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9486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3FEE6-AAD2-9520-D85D-586F5349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C7CF0-86E7-14D0-492B-8A0146F85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7421EA-94B9-F2A0-3416-FBDC2CD50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2FE85-0753-889E-E4CA-26269E795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054BA-5CD9-4AD2-9572-940AE2B58ED9}" type="datetimeFigureOut">
              <a:rPr lang="nl-NL" smtClean="0"/>
              <a:t>28-4-2026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93FC63-8FE7-D90E-28DD-E2DF9A895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307CE0-621C-3C6E-CDCF-02EE57214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45771-E94B-4B2B-A7B7-5691599A402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135994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D2604-5E05-BD04-C11B-A69290C56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4AC137-8901-C7AB-27F9-A51E8367A3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304E99-C40D-B6FD-3215-EBAA941FC8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42079F-528C-297D-825B-9A9CD0150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054BA-5CD9-4AD2-9572-940AE2B58ED9}" type="datetimeFigureOut">
              <a:rPr lang="nl-NL" smtClean="0"/>
              <a:t>28-4-2026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A59F5B-8CE5-F7E1-82FD-CD2626F47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748E5-F95B-45FE-47C2-19FB4874B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45771-E94B-4B2B-A7B7-5691599A402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15563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C8EDE-822A-1268-E551-EC4179D23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27AB30-E453-4611-D9AB-0D096AEB83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BA64E6-A5E4-0749-BE95-3AF5638B3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054BA-5CD9-4AD2-9572-940AE2B58ED9}" type="datetimeFigureOut">
              <a:rPr lang="nl-NL" smtClean="0"/>
              <a:t>28-4-2026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7D5507-B398-DB8C-BC0F-9DAB7D1C0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1414D9-C249-3E54-3124-891752DB0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45771-E94B-4B2B-A7B7-5691599A402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89948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ED8DEA-2E7B-181F-C4ED-96B700C2A2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0902D4-7CCA-DA8F-C35B-912D0D81C3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13B61-0CFB-80B4-CCA3-9772B4FDC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054BA-5CD9-4AD2-9572-940AE2B58ED9}" type="datetimeFigureOut">
              <a:rPr lang="nl-NL" smtClean="0"/>
              <a:t>28-4-2026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B5DBBE-74FF-9F93-E8B9-2089484C0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4D0D1-CAD3-CEAC-7C70-D7E7C54C9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45771-E94B-4B2B-A7B7-5691599A402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83160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6522BA-1E34-5B59-FB69-CA0086B90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AD9D70-8437-AA1A-62E6-D52902A15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E12F9-495E-7607-936A-A8434469F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054BA-5CD9-4AD2-9572-940AE2B58ED9}" type="datetimeFigureOut">
              <a:rPr lang="nl-NL" smtClean="0"/>
              <a:t>28-4-2026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2566AA-832A-B7BD-B886-6F80E293B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85A775-B05B-F040-926E-2907EC09E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45771-E94B-4B2B-A7B7-5691599A402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54967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2B7F40-D507-BA90-B2C0-85B42DBE2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DA478-3763-C631-5E89-88B98B373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ADFA51-78A8-1A42-DB9F-D0F6AD4610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6054BA-5CD9-4AD2-9572-940AE2B58ED9}" type="datetimeFigureOut">
              <a:rPr lang="nl-NL" smtClean="0"/>
              <a:t>28-4-2026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BF85B-D61C-14CC-A3A5-ACA59ECDD2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9A6DE-640D-8517-F536-BA0656C465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045771-E94B-4B2B-A7B7-5691599A402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40324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59BAD-1DE0-3C6B-12DD-A026D6FAD2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1200" y="1117600"/>
            <a:ext cx="14605000" cy="1989667"/>
          </a:xfrm>
        </p:spPr>
        <p:txBody>
          <a:bodyPr>
            <a:normAutofit/>
          </a:bodyPr>
          <a:lstStyle/>
          <a:p>
            <a:r>
              <a:rPr lang="en-US" sz="4200" b="1">
                <a:latin typeface="Aptos Display" panose="020B0004020202020204" pitchFamily="34" charset="0"/>
              </a:rPr>
              <a:t>From Idea to Edge Reliability</a:t>
            </a:r>
            <a:endParaRPr lang="nl-NL" sz="4200" b="1">
              <a:latin typeface="Aptos Display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08BA11-AF7E-616F-2E6A-F15BE3A89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1200" y="2667000"/>
            <a:ext cx="14351000" cy="1379802"/>
          </a:xfrm>
        </p:spPr>
        <p:txBody>
          <a:bodyPr>
            <a:noAutofit/>
          </a:bodyPr>
          <a:lstStyle/>
          <a:p>
            <a:r>
              <a:rPr lang="en-US" sz="1900">
                <a:latin typeface="Aptos" panose="020B0004020202020204" pitchFamily="34" charset="0"/>
              </a:rPr>
              <a:t>Goal: Frame reliability as an end-to-end engineering system.</a:t>
            </a:r>
          </a:p>
          <a:p>
            <a:endParaRPr lang="en-US" sz="1900">
              <a:latin typeface="Aptos" panose="020B0004020202020204" pitchFamily="34" charset="0"/>
            </a:endParaRPr>
          </a:p>
          <a:p>
            <a:r>
              <a:rPr lang="en-US" sz="1900">
                <a:latin typeface="Aptos" panose="020B0004020202020204" pitchFamily="34" charset="0"/>
              </a:rPr>
              <a:t>On-click reveals:</a:t>
            </a:r>
          </a:p>
          <a:p>
            <a:r>
              <a:rPr lang="en-US" sz="1900">
                <a:latin typeface="Aptos" panose="020B0004020202020204" pitchFamily="34" charset="0"/>
              </a:rPr>
              <a:t>1) Product promise: real-time sessions with low latency.</a:t>
            </a:r>
          </a:p>
          <a:p>
            <a:r>
              <a:rPr lang="en-US" sz="1900">
                <a:latin typeface="Aptos" panose="020B0004020202020204" pitchFamily="34" charset="0"/>
              </a:rPr>
              <a:t>2) Engineering challenge: multi-tenant, secure, edge-first.</a:t>
            </a:r>
          </a:p>
          <a:p>
            <a:r>
              <a:rPr lang="en-US" sz="1900">
                <a:latin typeface="Aptos" panose="020B0004020202020204" pitchFamily="34" charset="0"/>
              </a:rPr>
              <a:t>3) Answer: five connected layers.</a:t>
            </a:r>
            <a:endParaRPr lang="nl-NL" sz="1900"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E88C9A-CF66-79D5-E1AF-369C653C69D1}"/>
              </a:ext>
            </a:extLst>
          </p:cNvPr>
          <p:cNvSpPr/>
          <p:nvPr/>
        </p:nvSpPr>
        <p:spPr>
          <a:xfrm>
            <a:off x="0" y="0"/>
            <a:ext cx="16256000" cy="431800"/>
          </a:xfrm>
          <a:prstGeom prst="rect">
            <a:avLst/>
          </a:prstGeom>
          <a:solidFill>
            <a:srgbClr val="9E211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57053B-77C3-C6D0-98C8-B96DEFFEC7D7}"/>
              </a:ext>
            </a:extLst>
          </p:cNvPr>
          <p:cNvSpPr txBox="1"/>
          <p:nvPr/>
        </p:nvSpPr>
        <p:spPr>
          <a:xfrm>
            <a:off x="355600" y="76200"/>
            <a:ext cx="4572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nl-NL" sz="1200" b="1">
                <a:solidFill>
                  <a:srgbClr val="FFFFFF"/>
                </a:solidFill>
                <a:latin typeface="Aptos" panose="020B0004020202020204" pitchFamily="34" charset="0"/>
              </a:rPr>
              <a:t>System Narrative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773DCA-1580-5A24-2AD1-CE6558A21393}"/>
              </a:ext>
            </a:extLst>
          </p:cNvPr>
          <p:cNvSpPr/>
          <p:nvPr/>
        </p:nvSpPr>
        <p:spPr>
          <a:xfrm>
            <a:off x="0" y="431800"/>
            <a:ext cx="101600" cy="8712200"/>
          </a:xfrm>
          <a:prstGeom prst="rect">
            <a:avLst/>
          </a:prstGeom>
          <a:solidFill>
            <a:srgbClr val="9E211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5BEFF9-CF8E-BC3D-D006-7B91C99499D3}"/>
              </a:ext>
            </a:extLst>
          </p:cNvPr>
          <p:cNvSpPr txBox="1"/>
          <p:nvPr/>
        </p:nvSpPr>
        <p:spPr>
          <a:xfrm>
            <a:off x="9652000" y="8737600"/>
            <a:ext cx="635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>
                <a:solidFill>
                  <a:srgbClr val="808080"/>
                </a:solidFill>
                <a:latin typeface="Aptos" panose="020B0004020202020204" pitchFamily="34" charset="0"/>
              </a:rPr>
              <a:t>Qesto Engineering Story - Interactive Draft</a:t>
            </a:r>
            <a:endParaRPr lang="nl-NL" sz="1100">
              <a:solidFill>
                <a:srgbClr val="80808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02472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D092D-AC89-AAE0-F328-E823F6439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914400"/>
            <a:ext cx="14605000" cy="1104636"/>
          </a:xfrm>
        </p:spPr>
        <p:txBody>
          <a:bodyPr>
            <a:normAutofit/>
          </a:bodyPr>
          <a:lstStyle/>
          <a:p>
            <a:r>
              <a:rPr lang="nl-NL" sz="3400" b="1">
                <a:latin typeface="Aptos Display" panose="020B0004020202020204" pitchFamily="34" charset="0"/>
              </a:rPr>
              <a:t>The 5-Layer System Map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748CC5-4B94-0EC5-F1F8-4D2C99691F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1200" y="2159000"/>
            <a:ext cx="14224000" cy="3626115"/>
          </a:xfrm>
        </p:spPr>
        <p:txBody>
          <a:bodyPr>
            <a:normAutofit/>
          </a:bodyPr>
          <a:lstStyle/>
          <a:p>
            <a:r>
              <a:rPr lang="en-US" sz="2000">
                <a:latin typeface="Aptos" panose="020B0004020202020204" pitchFamily="34" charset="0"/>
              </a:rPr>
              <a:t>Goal: Introduce architecture and delivery in one visual.</a:t>
            </a:r>
          </a:p>
          <a:p>
            <a:endParaRPr lang="en-US" sz="2000">
              <a:latin typeface="Aptos" panose="020B0004020202020204" pitchFamily="34" charset="0"/>
            </a:endParaRPr>
          </a:p>
          <a:p>
            <a:r>
              <a:rPr lang="en-US" sz="2000">
                <a:latin typeface="Aptos" panose="020B0004020202020204" pitchFamily="34" charset="0"/>
              </a:rPr>
              <a:t>On-click reveals:</a:t>
            </a:r>
          </a:p>
          <a:p>
            <a:r>
              <a:rPr lang="en-US" sz="2000">
                <a:latin typeface="Aptos" panose="020B0004020202020204" pitchFamily="34" charset="0"/>
              </a:rPr>
              <a:t>1) Technical Environment</a:t>
            </a:r>
          </a:p>
          <a:p>
            <a:r>
              <a:rPr lang="en-US" sz="2000">
                <a:latin typeface="Aptos" panose="020B0004020202020204" pitchFamily="34" charset="0"/>
              </a:rPr>
              <a:t>2) Workforce and Runtime Actors</a:t>
            </a:r>
          </a:p>
          <a:p>
            <a:r>
              <a:rPr lang="en-US" sz="2000">
                <a:latin typeface="Aptos" panose="020B0004020202020204" pitchFamily="34" charset="0"/>
              </a:rPr>
              <a:t>3) Agents, Skills, Markdown</a:t>
            </a:r>
          </a:p>
          <a:p>
            <a:r>
              <a:rPr lang="en-US" sz="2000">
                <a:latin typeface="Aptos" panose="020B0004020202020204" pitchFamily="34" charset="0"/>
              </a:rPr>
              <a:t>4) Automation Layer</a:t>
            </a:r>
          </a:p>
          <a:p>
            <a:r>
              <a:rPr lang="en-US" sz="2000">
                <a:latin typeface="Aptos" panose="020B0004020202020204" pitchFamily="34" charset="0"/>
              </a:rPr>
              <a:t>5) Control Layer</a:t>
            </a:r>
            <a:endParaRPr lang="nl-NL" sz="2000"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629393-2ADE-4E3A-F917-9A8437DD9728}"/>
              </a:ext>
            </a:extLst>
          </p:cNvPr>
          <p:cNvSpPr/>
          <p:nvPr/>
        </p:nvSpPr>
        <p:spPr>
          <a:xfrm>
            <a:off x="0" y="0"/>
            <a:ext cx="16256000" cy="431800"/>
          </a:xfrm>
          <a:prstGeom prst="rect">
            <a:avLst/>
          </a:prstGeom>
          <a:solidFill>
            <a:srgbClr val="9E211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848A14-CAE6-90BC-5B61-E267E01A5394}"/>
              </a:ext>
            </a:extLst>
          </p:cNvPr>
          <p:cNvSpPr txBox="1"/>
          <p:nvPr/>
        </p:nvSpPr>
        <p:spPr>
          <a:xfrm>
            <a:off x="355600" y="76200"/>
            <a:ext cx="4572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nl-NL" sz="1200" b="1">
                <a:solidFill>
                  <a:srgbClr val="FFFFFF"/>
                </a:solidFill>
                <a:latin typeface="Aptos" panose="020B0004020202020204" pitchFamily="34" charset="0"/>
              </a:rPr>
              <a:t>System Narrative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22703F-8100-ACA1-AC24-41AB5B00F47D}"/>
              </a:ext>
            </a:extLst>
          </p:cNvPr>
          <p:cNvSpPr/>
          <p:nvPr/>
        </p:nvSpPr>
        <p:spPr>
          <a:xfrm>
            <a:off x="0" y="431800"/>
            <a:ext cx="101600" cy="8712200"/>
          </a:xfrm>
          <a:prstGeom prst="rect">
            <a:avLst/>
          </a:prstGeom>
          <a:solidFill>
            <a:srgbClr val="9E211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387D37-580C-1447-1E6F-01B8889B7B9E}"/>
              </a:ext>
            </a:extLst>
          </p:cNvPr>
          <p:cNvSpPr txBox="1"/>
          <p:nvPr/>
        </p:nvSpPr>
        <p:spPr>
          <a:xfrm>
            <a:off x="9652000" y="8737600"/>
            <a:ext cx="635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>
                <a:solidFill>
                  <a:srgbClr val="808080"/>
                </a:solidFill>
                <a:latin typeface="Aptos" panose="020B0004020202020204" pitchFamily="34" charset="0"/>
              </a:rPr>
              <a:t>Qesto Engineering Story - Interactive Draft</a:t>
            </a:r>
            <a:endParaRPr lang="nl-NL" sz="1100">
              <a:solidFill>
                <a:srgbClr val="80808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36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1AFE2-93AC-ED0D-DC3C-EFA920CB9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914400"/>
            <a:ext cx="14605000" cy="1104636"/>
          </a:xfrm>
        </p:spPr>
        <p:txBody>
          <a:bodyPr>
            <a:normAutofit/>
          </a:bodyPr>
          <a:lstStyle/>
          <a:p>
            <a:r>
              <a:rPr lang="en-US" sz="3400" b="1">
                <a:latin typeface="Aptos Display" panose="020B0004020202020204" pitchFamily="34" charset="0"/>
              </a:rPr>
              <a:t>Technical Environment: Build to Edge Execution</a:t>
            </a:r>
            <a:endParaRPr lang="nl-NL" sz="3400" b="1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5371A6-6037-F85C-F248-95606399B8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1200" y="2159000"/>
            <a:ext cx="14224000" cy="3626115"/>
          </a:xfrm>
        </p:spPr>
        <p:txBody>
          <a:bodyPr>
            <a:normAutofit/>
          </a:bodyPr>
          <a:lstStyle/>
          <a:p>
            <a:r>
              <a:rPr lang="nl-NL" sz="2000">
                <a:latin typeface="Aptos" panose="020B0004020202020204" pitchFamily="34" charset="0"/>
              </a:rPr>
              <a:t>Goal: Show path from local code to runtime behavior.</a:t>
            </a:r>
          </a:p>
          <a:p>
            <a:endParaRPr lang="nl-NL" sz="2000">
              <a:latin typeface="Aptos" panose="020B0004020202020204" pitchFamily="34" charset="0"/>
            </a:endParaRPr>
          </a:p>
          <a:p>
            <a:r>
              <a:rPr lang="nl-NL" sz="2000">
                <a:latin typeface="Aptos" panose="020B0004020202020204" pitchFamily="34" charset="0"/>
              </a:rPr>
              <a:t>On-click reveals:</a:t>
            </a:r>
          </a:p>
          <a:p>
            <a:r>
              <a:rPr lang="nl-NL" sz="2000">
                <a:latin typeface="Aptos" panose="020B0004020202020204" pitchFamily="34" charset="0"/>
              </a:rPr>
              <a:t>1) Cursor + AI-assisted implementation.</a:t>
            </a:r>
          </a:p>
          <a:p>
            <a:r>
              <a:rPr lang="nl-NL" sz="2000">
                <a:latin typeface="Aptos" panose="020B0004020202020204" pitchFamily="34" charset="0"/>
              </a:rPr>
              <a:t>2) GitHub PR checks and review.</a:t>
            </a:r>
          </a:p>
          <a:p>
            <a:r>
              <a:rPr lang="nl-NL" sz="2000">
                <a:latin typeface="Aptos" panose="020B0004020202020204" pitchFamily="34" charset="0"/>
              </a:rPr>
              <a:t>3) Cloudflare Pages Functions + Durable Objects + D1/KV.</a:t>
            </a:r>
          </a:p>
          <a:p>
            <a:r>
              <a:rPr lang="nl-NL" sz="2000">
                <a:latin typeface="Aptos" panose="020B0004020202020204" pitchFamily="34" charset="0"/>
              </a:rPr>
              <a:t>4) Edge execution + observability feedback.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953019-81F3-F9A3-E045-56D7B78903F8}"/>
              </a:ext>
            </a:extLst>
          </p:cNvPr>
          <p:cNvSpPr/>
          <p:nvPr/>
        </p:nvSpPr>
        <p:spPr>
          <a:xfrm>
            <a:off x="0" y="0"/>
            <a:ext cx="16256000" cy="431800"/>
          </a:xfrm>
          <a:prstGeom prst="rect">
            <a:avLst/>
          </a:prstGeom>
          <a:solidFill>
            <a:srgbClr val="FF4C9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ADD436-EAF3-CF4C-0F65-47D48C67B057}"/>
              </a:ext>
            </a:extLst>
          </p:cNvPr>
          <p:cNvSpPr txBox="1"/>
          <p:nvPr/>
        </p:nvSpPr>
        <p:spPr>
          <a:xfrm>
            <a:off x="355600" y="76200"/>
            <a:ext cx="4572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nl-NL" sz="1200" b="1">
                <a:solidFill>
                  <a:srgbClr val="FFFFFF"/>
                </a:solidFill>
                <a:latin typeface="Aptos" panose="020B0004020202020204" pitchFamily="34" charset="0"/>
              </a:rPr>
              <a:t>Environment &amp; Ownership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EC6ED4-E112-CABE-5180-E76E7ABCC28C}"/>
              </a:ext>
            </a:extLst>
          </p:cNvPr>
          <p:cNvSpPr/>
          <p:nvPr/>
        </p:nvSpPr>
        <p:spPr>
          <a:xfrm>
            <a:off x="0" y="431800"/>
            <a:ext cx="101600" cy="8712200"/>
          </a:xfrm>
          <a:prstGeom prst="rect">
            <a:avLst/>
          </a:prstGeom>
          <a:solidFill>
            <a:srgbClr val="FF4C9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108B4D-81FA-46B6-36ED-E9034B43CE12}"/>
              </a:ext>
            </a:extLst>
          </p:cNvPr>
          <p:cNvSpPr txBox="1"/>
          <p:nvPr/>
        </p:nvSpPr>
        <p:spPr>
          <a:xfrm>
            <a:off x="9652000" y="8737600"/>
            <a:ext cx="635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>
                <a:solidFill>
                  <a:srgbClr val="808080"/>
                </a:solidFill>
                <a:latin typeface="Aptos" panose="020B0004020202020204" pitchFamily="34" charset="0"/>
              </a:rPr>
              <a:t>Qesto Engineering Story - Interactive Draft</a:t>
            </a:r>
            <a:endParaRPr lang="nl-NL" sz="1100">
              <a:solidFill>
                <a:srgbClr val="80808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51331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F559C-1316-429C-F801-1668C1BF2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914400"/>
            <a:ext cx="14605000" cy="1104636"/>
          </a:xfrm>
        </p:spPr>
        <p:txBody>
          <a:bodyPr>
            <a:normAutofit/>
          </a:bodyPr>
          <a:lstStyle/>
          <a:p>
            <a:r>
              <a:rPr lang="en-US" sz="3400" b="1">
                <a:latin typeface="Aptos Display" panose="020B0004020202020204" pitchFamily="34" charset="0"/>
              </a:rPr>
              <a:t>Workforce and Runtime Ownership Model</a:t>
            </a:r>
            <a:endParaRPr lang="nl-NL" sz="3400" b="1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B56A40-08FB-3DAA-5708-A3D6F162A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1200" y="2159000"/>
            <a:ext cx="14224000" cy="3626115"/>
          </a:xfrm>
        </p:spPr>
        <p:txBody>
          <a:bodyPr>
            <a:normAutofit/>
          </a:bodyPr>
          <a:lstStyle/>
          <a:p>
            <a:r>
              <a:rPr lang="en-US" sz="2000">
                <a:latin typeface="Aptos" panose="020B0004020202020204" pitchFamily="34" charset="0"/>
              </a:rPr>
              <a:t>Goal: Make accountability explicit across humans and machine actors.</a:t>
            </a:r>
          </a:p>
          <a:p>
            <a:endParaRPr lang="en-US" sz="2000">
              <a:latin typeface="Aptos" panose="020B0004020202020204" pitchFamily="34" charset="0"/>
            </a:endParaRPr>
          </a:p>
          <a:p>
            <a:r>
              <a:rPr lang="en-US" sz="2000">
                <a:latin typeface="Aptos" panose="020B0004020202020204" pitchFamily="34" charset="0"/>
              </a:rPr>
              <a:t>On-click reveals:</a:t>
            </a:r>
          </a:p>
          <a:p>
            <a:r>
              <a:rPr lang="en-US" sz="2000">
                <a:latin typeface="Aptos" panose="020B0004020202020204" pitchFamily="34" charset="0"/>
              </a:rPr>
              <a:t>1) Human owners: Product, Engineer, Reviewer, Security, DevOps/On-call.</a:t>
            </a:r>
          </a:p>
          <a:p>
            <a:r>
              <a:rPr lang="en-US" sz="2000">
                <a:latin typeface="Aptos" panose="020B0004020202020204" pitchFamily="34" charset="0"/>
              </a:rPr>
              <a:t>2) Machine actors: CI runners, edge workers, Durable Objects, scanners.</a:t>
            </a:r>
          </a:p>
          <a:p>
            <a:r>
              <a:rPr lang="en-US" sz="2000">
                <a:latin typeface="Aptos" panose="020B0004020202020204" pitchFamily="34" charset="0"/>
              </a:rPr>
              <a:t>3) Handoff chain: backlog -&gt; implementation -&gt; review -&gt; release -&gt; incident ownership.</a:t>
            </a:r>
            <a:endParaRPr lang="nl-NL" sz="2000"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02BC30-3044-833D-BCE3-2F988025F678}"/>
              </a:ext>
            </a:extLst>
          </p:cNvPr>
          <p:cNvSpPr/>
          <p:nvPr/>
        </p:nvSpPr>
        <p:spPr>
          <a:xfrm>
            <a:off x="0" y="0"/>
            <a:ext cx="16256000" cy="431800"/>
          </a:xfrm>
          <a:prstGeom prst="rect">
            <a:avLst/>
          </a:prstGeom>
          <a:solidFill>
            <a:srgbClr val="FF4C9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7DAB1-53AF-0CB3-11FE-74A3449F260B}"/>
              </a:ext>
            </a:extLst>
          </p:cNvPr>
          <p:cNvSpPr txBox="1"/>
          <p:nvPr/>
        </p:nvSpPr>
        <p:spPr>
          <a:xfrm>
            <a:off x="355600" y="76200"/>
            <a:ext cx="4572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nl-NL" sz="1200" b="1">
                <a:solidFill>
                  <a:srgbClr val="FFFFFF"/>
                </a:solidFill>
                <a:latin typeface="Aptos" panose="020B0004020202020204" pitchFamily="34" charset="0"/>
              </a:rPr>
              <a:t>Environment &amp; Ownership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A97692-5B5F-EE2F-D7B6-3369DBC391F9}"/>
              </a:ext>
            </a:extLst>
          </p:cNvPr>
          <p:cNvSpPr/>
          <p:nvPr/>
        </p:nvSpPr>
        <p:spPr>
          <a:xfrm>
            <a:off x="0" y="431800"/>
            <a:ext cx="101600" cy="8712200"/>
          </a:xfrm>
          <a:prstGeom prst="rect">
            <a:avLst/>
          </a:prstGeom>
          <a:solidFill>
            <a:srgbClr val="FF4C9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AB1792-F8A3-DDC0-5EBF-A4877A7FDC74}"/>
              </a:ext>
            </a:extLst>
          </p:cNvPr>
          <p:cNvSpPr txBox="1"/>
          <p:nvPr/>
        </p:nvSpPr>
        <p:spPr>
          <a:xfrm>
            <a:off x="9652000" y="8737600"/>
            <a:ext cx="635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>
                <a:solidFill>
                  <a:srgbClr val="808080"/>
                </a:solidFill>
                <a:latin typeface="Aptos" panose="020B0004020202020204" pitchFamily="34" charset="0"/>
              </a:rPr>
              <a:t>Qesto Engineering Story - Interactive Draft</a:t>
            </a:r>
            <a:endParaRPr lang="nl-NL" sz="1100">
              <a:solidFill>
                <a:srgbClr val="80808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1950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2CB69-71B9-683F-1165-CFE098D89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914400"/>
            <a:ext cx="14605000" cy="1104636"/>
          </a:xfrm>
        </p:spPr>
        <p:txBody>
          <a:bodyPr>
            <a:normAutofit/>
          </a:bodyPr>
          <a:lstStyle/>
          <a:p>
            <a:r>
              <a:rPr lang="en-US" sz="3400" b="1">
                <a:latin typeface="Aptos Display" panose="020B0004020202020204" pitchFamily="34" charset="0"/>
              </a:rPr>
              <a:t>Agents, Skills, and Markdown Control Plane</a:t>
            </a:r>
            <a:endParaRPr lang="nl-NL" sz="3400" b="1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8F266-47D7-40AB-0A90-76AD4DBD9D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1200" y="2159000"/>
            <a:ext cx="14224000" cy="3626115"/>
          </a:xfrm>
        </p:spPr>
        <p:txBody>
          <a:bodyPr>
            <a:normAutofit/>
          </a:bodyPr>
          <a:lstStyle/>
          <a:p>
            <a:r>
              <a:rPr lang="en-US" sz="2000">
                <a:latin typeface="Aptos" panose="020B0004020202020204" pitchFamily="34" charset="0"/>
              </a:rPr>
              <a:t>Goal: Show AI acceleration with governance boundaries.</a:t>
            </a:r>
          </a:p>
          <a:p>
            <a:endParaRPr lang="en-US" sz="2000">
              <a:latin typeface="Aptos" panose="020B0004020202020204" pitchFamily="34" charset="0"/>
            </a:endParaRPr>
          </a:p>
          <a:p>
            <a:r>
              <a:rPr lang="en-US" sz="2000">
                <a:latin typeface="Aptos" panose="020B0004020202020204" pitchFamily="34" charset="0"/>
              </a:rPr>
              <a:t>On-click reveals:</a:t>
            </a:r>
          </a:p>
          <a:p>
            <a:r>
              <a:rPr lang="en-US" sz="2000">
                <a:latin typeface="Aptos" panose="020B0004020202020204" pitchFamily="34" charset="0"/>
              </a:rPr>
              <a:t>1) Main agent vs specialist subagents.</a:t>
            </a:r>
          </a:p>
          <a:p>
            <a:r>
              <a:rPr lang="en-US" sz="2000">
                <a:latin typeface="Aptos" panose="020B0004020202020204" pitchFamily="34" charset="0"/>
              </a:rPr>
              <a:t>2) Skills as reusable operating playbooks.</a:t>
            </a:r>
          </a:p>
          <a:p>
            <a:r>
              <a:rPr lang="en-US" sz="2000">
                <a:latin typeface="Aptos" panose="020B0004020202020204" pitchFamily="34" charset="0"/>
              </a:rPr>
              <a:t>3) Markdown as durable policy interface.</a:t>
            </a:r>
          </a:p>
          <a:p>
            <a:r>
              <a:rPr lang="en-US" sz="2000">
                <a:latin typeface="Aptos" panose="020B0004020202020204" pitchFamily="34" charset="0"/>
              </a:rPr>
              <a:t>4) Human review remains merge authority.</a:t>
            </a:r>
            <a:endParaRPr lang="nl-NL" sz="2000"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DBD7BD2-5638-8077-C75F-4B924EFCC635}"/>
              </a:ext>
            </a:extLst>
          </p:cNvPr>
          <p:cNvSpPr/>
          <p:nvPr/>
        </p:nvSpPr>
        <p:spPr>
          <a:xfrm>
            <a:off x="0" y="0"/>
            <a:ext cx="16256000" cy="431800"/>
          </a:xfrm>
          <a:prstGeom prst="rect">
            <a:avLst/>
          </a:prstGeom>
          <a:solidFill>
            <a:srgbClr val="245FA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83AE26-970B-1AA5-4049-45A239B0684E}"/>
              </a:ext>
            </a:extLst>
          </p:cNvPr>
          <p:cNvSpPr txBox="1"/>
          <p:nvPr/>
        </p:nvSpPr>
        <p:spPr>
          <a:xfrm>
            <a:off x="355600" y="76200"/>
            <a:ext cx="4572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nl-NL" sz="1200" b="1">
                <a:solidFill>
                  <a:srgbClr val="FFFFFF"/>
                </a:solidFill>
                <a:latin typeface="Aptos" panose="020B0004020202020204" pitchFamily="34" charset="0"/>
              </a:rPr>
              <a:t>Automation &amp; Control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F0F66E-7E78-1E74-AD6E-2C43629DA06C}"/>
              </a:ext>
            </a:extLst>
          </p:cNvPr>
          <p:cNvSpPr/>
          <p:nvPr/>
        </p:nvSpPr>
        <p:spPr>
          <a:xfrm>
            <a:off x="0" y="431800"/>
            <a:ext cx="101600" cy="8712200"/>
          </a:xfrm>
          <a:prstGeom prst="rect">
            <a:avLst/>
          </a:prstGeom>
          <a:solidFill>
            <a:srgbClr val="245FA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0E2027-C43C-8DD4-9E42-648B2D81F4D8}"/>
              </a:ext>
            </a:extLst>
          </p:cNvPr>
          <p:cNvSpPr txBox="1"/>
          <p:nvPr/>
        </p:nvSpPr>
        <p:spPr>
          <a:xfrm>
            <a:off x="9652000" y="8737600"/>
            <a:ext cx="635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>
                <a:solidFill>
                  <a:srgbClr val="808080"/>
                </a:solidFill>
                <a:latin typeface="Aptos" panose="020B0004020202020204" pitchFamily="34" charset="0"/>
              </a:rPr>
              <a:t>Qesto Engineering Story - Interactive Draft</a:t>
            </a:r>
            <a:endParaRPr lang="nl-NL" sz="1100">
              <a:solidFill>
                <a:srgbClr val="80808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3321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244D-D060-34BC-736A-D903A8736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914400"/>
            <a:ext cx="14605000" cy="1104636"/>
          </a:xfrm>
        </p:spPr>
        <p:txBody>
          <a:bodyPr>
            <a:normAutofit/>
          </a:bodyPr>
          <a:lstStyle/>
          <a:p>
            <a:r>
              <a:rPr lang="nl-NL" sz="3400" b="1">
                <a:latin typeface="Aptos Display" panose="020B0004020202020204" pitchFamily="34" charset="0"/>
              </a:rPr>
              <a:t>Automation Layer: Deterministic Delivery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CCC3AA-9F8D-813A-A05E-CC490EDA5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1200" y="2159000"/>
            <a:ext cx="14224000" cy="3626115"/>
          </a:xfrm>
        </p:spPr>
        <p:txBody>
          <a:bodyPr>
            <a:normAutofit/>
          </a:bodyPr>
          <a:lstStyle/>
          <a:p>
            <a:r>
              <a:rPr lang="en-US" sz="2000">
                <a:latin typeface="Aptos" panose="020B0004020202020204" pitchFamily="34" charset="0"/>
              </a:rPr>
              <a:t>Goal: Explain how automation creates speed with trust.</a:t>
            </a:r>
          </a:p>
          <a:p>
            <a:endParaRPr lang="en-US" sz="2000">
              <a:latin typeface="Aptos" panose="020B0004020202020204" pitchFamily="34" charset="0"/>
            </a:endParaRPr>
          </a:p>
          <a:p>
            <a:r>
              <a:rPr lang="en-US" sz="2000">
                <a:latin typeface="Aptos" panose="020B0004020202020204" pitchFamily="34" charset="0"/>
              </a:rPr>
              <a:t>On-click reveals:</a:t>
            </a:r>
          </a:p>
          <a:p>
            <a:r>
              <a:rPr lang="en-US" sz="2000">
                <a:latin typeface="Aptos" panose="020B0004020202020204" pitchFamily="34" charset="0"/>
              </a:rPr>
              <a:t>1) Triggers: PR, push, scheduled jobs.</a:t>
            </a:r>
          </a:p>
          <a:p>
            <a:r>
              <a:rPr lang="en-US" sz="2000">
                <a:latin typeface="Aptos" panose="020B0004020202020204" pitchFamily="34" charset="0"/>
              </a:rPr>
              <a:t>2) Checks: lint, type-check, tests, coverage, drift, security.</a:t>
            </a:r>
          </a:p>
          <a:p>
            <a:r>
              <a:rPr lang="en-US" sz="2000">
                <a:latin typeface="Aptos" panose="020B0004020202020204" pitchFamily="34" charset="0"/>
              </a:rPr>
              <a:t>3) Gates: pass/fail promotion behavior.</a:t>
            </a:r>
          </a:p>
          <a:p>
            <a:r>
              <a:rPr lang="en-US" sz="2000">
                <a:latin typeface="Aptos" panose="020B0004020202020204" pitchFamily="34" charset="0"/>
              </a:rPr>
              <a:t>4) Artifacts: logs and trend evidence.</a:t>
            </a:r>
            <a:endParaRPr lang="nl-NL" sz="2000"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C5AC75-9DB0-8034-01A8-AD424EBD76A8}"/>
              </a:ext>
            </a:extLst>
          </p:cNvPr>
          <p:cNvSpPr/>
          <p:nvPr/>
        </p:nvSpPr>
        <p:spPr>
          <a:xfrm>
            <a:off x="0" y="0"/>
            <a:ext cx="16256000" cy="431800"/>
          </a:xfrm>
          <a:prstGeom prst="rect">
            <a:avLst/>
          </a:prstGeom>
          <a:solidFill>
            <a:srgbClr val="245FA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1B7E7-B872-856A-7E1A-04316DF0A353}"/>
              </a:ext>
            </a:extLst>
          </p:cNvPr>
          <p:cNvSpPr txBox="1"/>
          <p:nvPr/>
        </p:nvSpPr>
        <p:spPr>
          <a:xfrm>
            <a:off x="355600" y="76200"/>
            <a:ext cx="4572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nl-NL" sz="1200" b="1">
                <a:solidFill>
                  <a:srgbClr val="FFFFFF"/>
                </a:solidFill>
                <a:latin typeface="Aptos" panose="020B0004020202020204" pitchFamily="34" charset="0"/>
              </a:rPr>
              <a:t>Automation &amp; Control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EA7770-F312-D798-14E6-518B6E031D86}"/>
              </a:ext>
            </a:extLst>
          </p:cNvPr>
          <p:cNvSpPr/>
          <p:nvPr/>
        </p:nvSpPr>
        <p:spPr>
          <a:xfrm>
            <a:off x="0" y="431800"/>
            <a:ext cx="101600" cy="8712200"/>
          </a:xfrm>
          <a:prstGeom prst="rect">
            <a:avLst/>
          </a:prstGeom>
          <a:solidFill>
            <a:srgbClr val="245FA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05FEAF-75A0-167C-6E12-08C20CCEF870}"/>
              </a:ext>
            </a:extLst>
          </p:cNvPr>
          <p:cNvSpPr txBox="1"/>
          <p:nvPr/>
        </p:nvSpPr>
        <p:spPr>
          <a:xfrm>
            <a:off x="9652000" y="8737600"/>
            <a:ext cx="635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>
                <a:solidFill>
                  <a:srgbClr val="808080"/>
                </a:solidFill>
                <a:latin typeface="Aptos" panose="020B0004020202020204" pitchFamily="34" charset="0"/>
              </a:rPr>
              <a:t>Qesto Engineering Story - Interactive Draft</a:t>
            </a:r>
            <a:endParaRPr lang="nl-NL" sz="1100">
              <a:solidFill>
                <a:srgbClr val="80808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2768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59063-4D74-3450-9ABC-2CDC5466A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914400"/>
            <a:ext cx="14605000" cy="1104636"/>
          </a:xfrm>
        </p:spPr>
        <p:txBody>
          <a:bodyPr>
            <a:normAutofit/>
          </a:bodyPr>
          <a:lstStyle/>
          <a:p>
            <a:r>
              <a:rPr lang="en-US" sz="3400" b="1">
                <a:latin typeface="Aptos Display" panose="020B0004020202020204" pitchFamily="34" charset="0"/>
              </a:rPr>
              <a:t>Control Layer: Prevent, Detect, Correct</a:t>
            </a:r>
            <a:endParaRPr lang="nl-NL" sz="3400" b="1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78C1CC-8637-0F8F-FB98-E813029D89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1200" y="2159000"/>
            <a:ext cx="14224000" cy="3626115"/>
          </a:xfrm>
        </p:spPr>
        <p:txBody>
          <a:bodyPr>
            <a:normAutofit/>
          </a:bodyPr>
          <a:lstStyle/>
          <a:p>
            <a:r>
              <a:rPr lang="nl-NL" sz="2000">
                <a:latin typeface="Aptos" panose="020B0004020202020204" pitchFamily="34" charset="0"/>
              </a:rPr>
              <a:t>Goal: Position controls as engineering enablers.</a:t>
            </a:r>
          </a:p>
          <a:p>
            <a:endParaRPr lang="nl-NL" sz="2000">
              <a:latin typeface="Aptos" panose="020B0004020202020204" pitchFamily="34" charset="0"/>
            </a:endParaRPr>
          </a:p>
          <a:p>
            <a:r>
              <a:rPr lang="nl-NL" sz="2000">
                <a:latin typeface="Aptos" panose="020B0004020202020204" pitchFamily="34" charset="0"/>
              </a:rPr>
              <a:t>On-click reveals:</a:t>
            </a:r>
          </a:p>
          <a:p>
            <a:r>
              <a:rPr lang="nl-NL" sz="2000">
                <a:latin typeface="Aptos" panose="020B0004020202020204" pitchFamily="34" charset="0"/>
              </a:rPr>
              <a:t>1) Preventive: RBAC, branch protections, secrets hygiene.</a:t>
            </a:r>
          </a:p>
          <a:p>
            <a:r>
              <a:rPr lang="nl-NL" sz="2000">
                <a:latin typeface="Aptos" panose="020B0004020202020204" pitchFamily="34" charset="0"/>
              </a:rPr>
              <a:t>2) Detective: scans, metrics, alerts, audit trail.</a:t>
            </a:r>
          </a:p>
          <a:p>
            <a:r>
              <a:rPr lang="nl-NL" sz="2000">
                <a:latin typeface="Aptos" panose="020B0004020202020204" pitchFamily="34" charset="0"/>
              </a:rPr>
              <a:t>3) Corrective: rollback, hotfix, postmortem hardening.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01A59E-DBE7-3FB3-73E2-AADB0AFC75CF}"/>
              </a:ext>
            </a:extLst>
          </p:cNvPr>
          <p:cNvSpPr/>
          <p:nvPr/>
        </p:nvSpPr>
        <p:spPr>
          <a:xfrm>
            <a:off x="0" y="0"/>
            <a:ext cx="16256000" cy="431800"/>
          </a:xfrm>
          <a:prstGeom prst="rect">
            <a:avLst/>
          </a:prstGeom>
          <a:solidFill>
            <a:srgbClr val="245FA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BDBE9B-9F9B-3FAB-BDBE-E5D25DCC1F56}"/>
              </a:ext>
            </a:extLst>
          </p:cNvPr>
          <p:cNvSpPr txBox="1"/>
          <p:nvPr/>
        </p:nvSpPr>
        <p:spPr>
          <a:xfrm>
            <a:off x="355600" y="76200"/>
            <a:ext cx="4572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nl-NL" sz="1200" b="1">
                <a:solidFill>
                  <a:srgbClr val="FFFFFF"/>
                </a:solidFill>
                <a:latin typeface="Aptos" panose="020B0004020202020204" pitchFamily="34" charset="0"/>
              </a:rPr>
              <a:t>Automation &amp; Control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38A2D5-3A65-363C-CCEA-A26B06337137}"/>
              </a:ext>
            </a:extLst>
          </p:cNvPr>
          <p:cNvSpPr/>
          <p:nvPr/>
        </p:nvSpPr>
        <p:spPr>
          <a:xfrm>
            <a:off x="0" y="431800"/>
            <a:ext cx="101600" cy="8712200"/>
          </a:xfrm>
          <a:prstGeom prst="rect">
            <a:avLst/>
          </a:prstGeom>
          <a:solidFill>
            <a:srgbClr val="245FA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961A3A-77E9-3F83-A343-27CEE84D8945}"/>
              </a:ext>
            </a:extLst>
          </p:cNvPr>
          <p:cNvSpPr txBox="1"/>
          <p:nvPr/>
        </p:nvSpPr>
        <p:spPr>
          <a:xfrm>
            <a:off x="9652000" y="8737600"/>
            <a:ext cx="635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>
                <a:solidFill>
                  <a:srgbClr val="808080"/>
                </a:solidFill>
                <a:latin typeface="Aptos" panose="020B0004020202020204" pitchFamily="34" charset="0"/>
              </a:rPr>
              <a:t>Qesto Engineering Story - Interactive Draft</a:t>
            </a:r>
            <a:endParaRPr lang="nl-NL" sz="1100">
              <a:solidFill>
                <a:srgbClr val="80808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67816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0B671-8B20-B2B2-AD19-6F84CE018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914400"/>
            <a:ext cx="14605000" cy="1104636"/>
          </a:xfrm>
        </p:spPr>
        <p:txBody>
          <a:bodyPr>
            <a:normAutofit/>
          </a:bodyPr>
          <a:lstStyle/>
          <a:p>
            <a:r>
              <a:rPr lang="nl-NL" sz="3400" b="1">
                <a:latin typeface="Aptos Display" panose="020B0004020202020204" pitchFamily="34" charset="0"/>
              </a:rPr>
              <a:t>Testing Strategy: Confidence Pipeline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D49E64-7B64-E3FB-13DD-2F208F431E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1200" y="2159000"/>
            <a:ext cx="14224000" cy="3626115"/>
          </a:xfrm>
        </p:spPr>
        <p:txBody>
          <a:bodyPr>
            <a:normAutofit/>
          </a:bodyPr>
          <a:lstStyle/>
          <a:p>
            <a:r>
              <a:rPr lang="en-US" sz="2000">
                <a:latin typeface="Aptos" panose="020B0004020202020204" pitchFamily="34" charset="0"/>
              </a:rPr>
              <a:t>Goal: Present testing as staged confidence, not one gate.</a:t>
            </a:r>
          </a:p>
          <a:p>
            <a:endParaRPr lang="en-US" sz="2000">
              <a:latin typeface="Aptos" panose="020B0004020202020204" pitchFamily="34" charset="0"/>
            </a:endParaRPr>
          </a:p>
          <a:p>
            <a:r>
              <a:rPr lang="en-US" sz="2000">
                <a:latin typeface="Aptos" panose="020B0004020202020204" pitchFamily="34" charset="0"/>
              </a:rPr>
              <a:t>On-click reveals:</a:t>
            </a:r>
          </a:p>
          <a:p>
            <a:r>
              <a:rPr lang="en-US" sz="2000">
                <a:latin typeface="Aptos" panose="020B0004020202020204" pitchFamily="34" charset="0"/>
              </a:rPr>
              <a:t>1) Static validation (lint/type/format).</a:t>
            </a:r>
          </a:p>
          <a:p>
            <a:r>
              <a:rPr lang="en-US" sz="2000">
                <a:latin typeface="Aptos" panose="020B0004020202020204" pitchFamily="34" charset="0"/>
              </a:rPr>
              <a:t>2) Unit tests (fast module confidence).</a:t>
            </a:r>
          </a:p>
          <a:p>
            <a:r>
              <a:rPr lang="en-US" sz="2000">
                <a:latin typeface="Aptos" panose="020B0004020202020204" pitchFamily="34" charset="0"/>
              </a:rPr>
              <a:t>3) Integration tests (cross-boundary behavior).</a:t>
            </a:r>
          </a:p>
          <a:p>
            <a:r>
              <a:rPr lang="en-US" sz="2000">
                <a:latin typeface="Aptos" panose="020B0004020202020204" pitchFamily="34" charset="0"/>
              </a:rPr>
              <a:t>4) Stability guard (flaky detection/quarantine).</a:t>
            </a:r>
          </a:p>
          <a:p>
            <a:r>
              <a:rPr lang="en-US" sz="2000">
                <a:latin typeface="Aptos" panose="020B0004020202020204" pitchFamily="34" charset="0"/>
              </a:rPr>
              <a:t>5) Post-merge runtime validation.</a:t>
            </a:r>
            <a:endParaRPr lang="nl-NL" sz="2000"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618D75-6FEA-E908-F587-D1BCF00F8E57}"/>
              </a:ext>
            </a:extLst>
          </p:cNvPr>
          <p:cNvSpPr/>
          <p:nvPr/>
        </p:nvSpPr>
        <p:spPr>
          <a:xfrm>
            <a:off x="0" y="0"/>
            <a:ext cx="16256000" cy="431800"/>
          </a:xfrm>
          <a:prstGeom prst="rect">
            <a:avLst/>
          </a:prstGeom>
          <a:solidFill>
            <a:srgbClr val="06CC4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2C749E-A862-F345-D54D-E969F862CBAE}"/>
              </a:ext>
            </a:extLst>
          </p:cNvPr>
          <p:cNvSpPr txBox="1"/>
          <p:nvPr/>
        </p:nvSpPr>
        <p:spPr>
          <a:xfrm>
            <a:off x="355600" y="76200"/>
            <a:ext cx="4572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nl-NL" sz="1200" b="1">
                <a:solidFill>
                  <a:srgbClr val="FFFFFF"/>
                </a:solidFill>
                <a:latin typeface="Aptos" panose="020B0004020202020204" pitchFamily="34" charset="0"/>
              </a:rPr>
              <a:t>Testing &amp; Vitest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81E8AC-25C7-E2B6-02C3-9CEBAD94E7E5}"/>
              </a:ext>
            </a:extLst>
          </p:cNvPr>
          <p:cNvSpPr/>
          <p:nvPr/>
        </p:nvSpPr>
        <p:spPr>
          <a:xfrm>
            <a:off x="0" y="431800"/>
            <a:ext cx="101600" cy="8712200"/>
          </a:xfrm>
          <a:prstGeom prst="rect">
            <a:avLst/>
          </a:prstGeom>
          <a:solidFill>
            <a:srgbClr val="06CC4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7200FC-B58C-2E9D-E56D-EEF9BE8766F5}"/>
              </a:ext>
            </a:extLst>
          </p:cNvPr>
          <p:cNvSpPr txBox="1"/>
          <p:nvPr/>
        </p:nvSpPr>
        <p:spPr>
          <a:xfrm>
            <a:off x="9652000" y="8737600"/>
            <a:ext cx="635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>
                <a:solidFill>
                  <a:srgbClr val="808080"/>
                </a:solidFill>
                <a:latin typeface="Aptos" panose="020B0004020202020204" pitchFamily="34" charset="0"/>
              </a:rPr>
              <a:t>Qesto Engineering Story - Interactive Draft</a:t>
            </a:r>
            <a:endParaRPr lang="nl-NL" sz="1100">
              <a:solidFill>
                <a:srgbClr val="80808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438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3B722-0843-F755-CCB6-E273DEC0D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914400"/>
            <a:ext cx="14605000" cy="1104636"/>
          </a:xfrm>
        </p:spPr>
        <p:txBody>
          <a:bodyPr>
            <a:normAutofit/>
          </a:bodyPr>
          <a:lstStyle/>
          <a:p>
            <a:r>
              <a:rPr lang="nl-NL" sz="3400" b="1">
                <a:latin typeface="Aptos Display" panose="020B0004020202020204" pitchFamily="34" charset="0"/>
              </a:rPr>
              <a:t>Vitest Deep Dive: Core Quality Signal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165D7E-63D8-C1B9-6E2A-AC5ED5BB35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1200" y="2159000"/>
            <a:ext cx="14224000" cy="3626115"/>
          </a:xfrm>
        </p:spPr>
        <p:txBody>
          <a:bodyPr>
            <a:normAutofit/>
          </a:bodyPr>
          <a:lstStyle/>
          <a:p>
            <a:r>
              <a:rPr lang="en-US" sz="2000">
                <a:latin typeface="Aptos" panose="020B0004020202020204" pitchFamily="34" charset="0"/>
              </a:rPr>
              <a:t>Goal: Show how Vitest drives merge and release decisions.</a:t>
            </a:r>
          </a:p>
          <a:p>
            <a:endParaRPr lang="en-US" sz="2000">
              <a:latin typeface="Aptos" panose="020B0004020202020204" pitchFamily="34" charset="0"/>
            </a:endParaRPr>
          </a:p>
          <a:p>
            <a:r>
              <a:rPr lang="en-US" sz="2000">
                <a:latin typeface="Aptos" panose="020B0004020202020204" pitchFamily="34" charset="0"/>
              </a:rPr>
              <a:t>On-click reveals:</a:t>
            </a:r>
          </a:p>
          <a:p>
            <a:r>
              <a:rPr lang="en-US" sz="2000">
                <a:latin typeface="Aptos" panose="020B0004020202020204" pitchFamily="34" charset="0"/>
              </a:rPr>
              <a:t>1) Authoring: tests evolve with code.</a:t>
            </a:r>
          </a:p>
          <a:p>
            <a:r>
              <a:rPr lang="en-US" sz="2000">
                <a:latin typeface="Aptos" panose="020B0004020202020204" pitchFamily="34" charset="0"/>
              </a:rPr>
              <a:t>2) Local run: immediate regression signal.</a:t>
            </a:r>
          </a:p>
          <a:p>
            <a:r>
              <a:rPr lang="en-US" sz="2000">
                <a:latin typeface="Aptos" panose="020B0004020202020204" pitchFamily="34" charset="0"/>
              </a:rPr>
              <a:t>3) CI run: standardized gate behavior.</a:t>
            </a:r>
          </a:p>
          <a:p>
            <a:r>
              <a:rPr lang="en-US" sz="2000">
                <a:latin typeface="Aptos" panose="020B0004020202020204" pitchFamily="34" charset="0"/>
              </a:rPr>
              <a:t>4) Triage: regression vs flaky classification.</a:t>
            </a:r>
          </a:p>
          <a:p>
            <a:r>
              <a:rPr lang="en-US" sz="2000">
                <a:latin typeface="Aptos" panose="020B0004020202020204" pitchFamily="34" charset="0"/>
              </a:rPr>
              <a:t>5) Learning: incidents become permanent tests.</a:t>
            </a:r>
            <a:endParaRPr lang="nl-NL" sz="2000"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D496EE-A7F2-D61B-CF66-BF94B9974DB7}"/>
              </a:ext>
            </a:extLst>
          </p:cNvPr>
          <p:cNvSpPr/>
          <p:nvPr/>
        </p:nvSpPr>
        <p:spPr>
          <a:xfrm>
            <a:off x="0" y="0"/>
            <a:ext cx="16256000" cy="431800"/>
          </a:xfrm>
          <a:prstGeom prst="rect">
            <a:avLst/>
          </a:prstGeom>
          <a:solidFill>
            <a:srgbClr val="06CC4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4451EB-EEBB-0C13-B648-25BFEEB5290C}"/>
              </a:ext>
            </a:extLst>
          </p:cNvPr>
          <p:cNvSpPr txBox="1"/>
          <p:nvPr/>
        </p:nvSpPr>
        <p:spPr>
          <a:xfrm>
            <a:off x="355600" y="76200"/>
            <a:ext cx="4572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nl-NL" sz="1200" b="1">
                <a:solidFill>
                  <a:srgbClr val="FFFFFF"/>
                </a:solidFill>
                <a:latin typeface="Aptos" panose="020B0004020202020204" pitchFamily="34" charset="0"/>
              </a:rPr>
              <a:t>Testing &amp; Vitest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69DB09-63CD-3174-03FB-80777351E20A}"/>
              </a:ext>
            </a:extLst>
          </p:cNvPr>
          <p:cNvSpPr/>
          <p:nvPr/>
        </p:nvSpPr>
        <p:spPr>
          <a:xfrm>
            <a:off x="0" y="431800"/>
            <a:ext cx="101600" cy="8712200"/>
          </a:xfrm>
          <a:prstGeom prst="rect">
            <a:avLst/>
          </a:prstGeom>
          <a:solidFill>
            <a:srgbClr val="06CC4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E0951F-F847-3257-CB22-09914DC64BC7}"/>
              </a:ext>
            </a:extLst>
          </p:cNvPr>
          <p:cNvSpPr txBox="1"/>
          <p:nvPr/>
        </p:nvSpPr>
        <p:spPr>
          <a:xfrm>
            <a:off x="9652000" y="8737600"/>
            <a:ext cx="635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>
                <a:solidFill>
                  <a:srgbClr val="808080"/>
                </a:solidFill>
                <a:latin typeface="Aptos" panose="020B0004020202020204" pitchFamily="34" charset="0"/>
              </a:rPr>
              <a:t>Qesto Engineering Story - Interactive Draft</a:t>
            </a:r>
            <a:endParaRPr lang="nl-NL" sz="1100">
              <a:solidFill>
                <a:srgbClr val="80808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229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62CAB-4101-5CE7-3559-778C6878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914400"/>
            <a:ext cx="14605000" cy="1104636"/>
          </a:xfrm>
        </p:spPr>
        <p:txBody>
          <a:bodyPr>
            <a:normAutofit/>
          </a:bodyPr>
          <a:lstStyle/>
          <a:p>
            <a:r>
              <a:rPr lang="nl-NL" sz="3400" b="1">
                <a:latin typeface="Aptos Display" panose="020B0004020202020204" pitchFamily="34" charset="0"/>
              </a:rPr>
              <a:t>Vitest Failure Triage Playbook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FE151F-F706-C5A9-F814-B7C2DBD573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1200" y="2159000"/>
            <a:ext cx="14224000" cy="3626115"/>
          </a:xfrm>
        </p:spPr>
        <p:txBody>
          <a:bodyPr>
            <a:normAutofit/>
          </a:bodyPr>
          <a:lstStyle/>
          <a:p>
            <a:r>
              <a:rPr lang="en-US" sz="2000">
                <a:latin typeface="Aptos" panose="020B0004020202020204" pitchFamily="34" charset="0"/>
              </a:rPr>
              <a:t>Goal: Make failure response operational and repeatable.</a:t>
            </a:r>
          </a:p>
          <a:p>
            <a:endParaRPr lang="en-US" sz="2000">
              <a:latin typeface="Aptos" panose="020B0004020202020204" pitchFamily="34" charset="0"/>
            </a:endParaRPr>
          </a:p>
          <a:p>
            <a:r>
              <a:rPr lang="en-US" sz="2000">
                <a:latin typeface="Aptos" panose="020B0004020202020204" pitchFamily="34" charset="0"/>
              </a:rPr>
              <a:t>On-click reveals:</a:t>
            </a:r>
          </a:p>
          <a:p>
            <a:r>
              <a:rPr lang="en-US" sz="2000">
                <a:latin typeface="Aptos" panose="020B0004020202020204" pitchFamily="34" charset="0"/>
              </a:rPr>
              <a:t>1) Classify fail: regression, test bug, environment issue, flake.</a:t>
            </a:r>
          </a:p>
          <a:p>
            <a:r>
              <a:rPr lang="en-US" sz="2000">
                <a:latin typeface="Aptos" panose="020B0004020202020204" pitchFamily="34" charset="0"/>
              </a:rPr>
              <a:t>2) Assign owner and fix window.</a:t>
            </a:r>
          </a:p>
          <a:p>
            <a:r>
              <a:rPr lang="en-US" sz="2000">
                <a:latin typeface="Aptos" panose="020B0004020202020204" pitchFamily="34" charset="0"/>
              </a:rPr>
              <a:t>3) Decide: patch now, quarantine, or block release.</a:t>
            </a:r>
          </a:p>
          <a:p>
            <a:r>
              <a:rPr lang="en-US" sz="2000">
                <a:latin typeface="Aptos" panose="020B0004020202020204" pitchFamily="34" charset="0"/>
              </a:rPr>
              <a:t>4) Update suite and policy after resolution.</a:t>
            </a:r>
            <a:endParaRPr lang="nl-NL" sz="2000"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4BC70B-BFCB-01BD-6DCF-D93D0F9A0378}"/>
              </a:ext>
            </a:extLst>
          </p:cNvPr>
          <p:cNvSpPr/>
          <p:nvPr/>
        </p:nvSpPr>
        <p:spPr>
          <a:xfrm>
            <a:off x="0" y="0"/>
            <a:ext cx="16256000" cy="431800"/>
          </a:xfrm>
          <a:prstGeom prst="rect">
            <a:avLst/>
          </a:prstGeom>
          <a:solidFill>
            <a:srgbClr val="06CC4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9BC294-F046-79CA-9DA6-6D33A727E17B}"/>
              </a:ext>
            </a:extLst>
          </p:cNvPr>
          <p:cNvSpPr txBox="1"/>
          <p:nvPr/>
        </p:nvSpPr>
        <p:spPr>
          <a:xfrm>
            <a:off x="355600" y="76200"/>
            <a:ext cx="4572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nl-NL" sz="1200" b="1">
                <a:solidFill>
                  <a:srgbClr val="FFFFFF"/>
                </a:solidFill>
                <a:latin typeface="Aptos" panose="020B0004020202020204" pitchFamily="34" charset="0"/>
              </a:rPr>
              <a:t>Testing &amp; Vitest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6AC82B-637B-4DC4-0D81-39A5702629B8}"/>
              </a:ext>
            </a:extLst>
          </p:cNvPr>
          <p:cNvSpPr/>
          <p:nvPr/>
        </p:nvSpPr>
        <p:spPr>
          <a:xfrm>
            <a:off x="0" y="431800"/>
            <a:ext cx="101600" cy="8712200"/>
          </a:xfrm>
          <a:prstGeom prst="rect">
            <a:avLst/>
          </a:prstGeom>
          <a:solidFill>
            <a:srgbClr val="06CC4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FF1393-3A15-70B0-3C50-770C67F5BBA0}"/>
              </a:ext>
            </a:extLst>
          </p:cNvPr>
          <p:cNvSpPr txBox="1"/>
          <p:nvPr/>
        </p:nvSpPr>
        <p:spPr>
          <a:xfrm>
            <a:off x="9652000" y="8737600"/>
            <a:ext cx="635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>
                <a:solidFill>
                  <a:srgbClr val="808080"/>
                </a:solidFill>
                <a:latin typeface="Aptos" panose="020B0004020202020204" pitchFamily="34" charset="0"/>
              </a:rPr>
              <a:t>Qesto Engineering Story - Interactive Draft</a:t>
            </a:r>
            <a:endParaRPr lang="nl-NL" sz="1100">
              <a:solidFill>
                <a:srgbClr val="80808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8649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C207A-FA32-24F6-1BA6-EC25989F4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914400"/>
            <a:ext cx="14605000" cy="1104636"/>
          </a:xfrm>
        </p:spPr>
        <p:txBody>
          <a:bodyPr>
            <a:normAutofit/>
          </a:bodyPr>
          <a:lstStyle/>
          <a:p>
            <a:r>
              <a:rPr lang="nl-NL" sz="3400" b="1">
                <a:latin typeface="Aptos Display" panose="020B0004020202020204" pitchFamily="34" charset="0"/>
              </a:rPr>
              <a:t>10-Round Engineering Completeness Review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BB6F3-84C3-0905-FC5B-E8EAA8DE8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1200" y="2159000"/>
            <a:ext cx="14224000" cy="3626115"/>
          </a:xfrm>
        </p:spPr>
        <p:txBody>
          <a:bodyPr>
            <a:normAutofit/>
          </a:bodyPr>
          <a:lstStyle/>
          <a:p>
            <a:r>
              <a:rPr lang="en-US" sz="2000">
                <a:latin typeface="Aptos" panose="020B0004020202020204" pitchFamily="34" charset="0"/>
              </a:rPr>
              <a:t>Goal: Demonstrate rigor beyond architecture diagrams.</a:t>
            </a:r>
          </a:p>
          <a:p>
            <a:endParaRPr lang="en-US" sz="2000">
              <a:latin typeface="Aptos" panose="020B0004020202020204" pitchFamily="34" charset="0"/>
            </a:endParaRPr>
          </a:p>
          <a:p>
            <a:r>
              <a:rPr lang="en-US" sz="2000">
                <a:latin typeface="Aptos" panose="020B0004020202020204" pitchFamily="34" charset="0"/>
              </a:rPr>
              <a:t>On-click reveals:</a:t>
            </a:r>
          </a:p>
          <a:p>
            <a:r>
              <a:rPr lang="en-US" sz="2000">
                <a:latin typeface="Aptos" panose="020B0004020202020204" pitchFamily="34" charset="0"/>
              </a:rPr>
              <a:t>1) Boundaries and topology.</a:t>
            </a:r>
          </a:p>
          <a:p>
            <a:r>
              <a:rPr lang="en-US" sz="2000">
                <a:latin typeface="Aptos" panose="020B0004020202020204" pitchFamily="34" charset="0"/>
              </a:rPr>
              <a:t>2) Execution path and determinism.</a:t>
            </a:r>
          </a:p>
          <a:p>
            <a:r>
              <a:rPr lang="en-US" sz="2000">
                <a:latin typeface="Aptos" panose="020B0004020202020204" pitchFamily="34" charset="0"/>
              </a:rPr>
              <a:t>3) Ownership and governance.</a:t>
            </a:r>
          </a:p>
          <a:p>
            <a:r>
              <a:rPr lang="en-US" sz="2000">
                <a:latin typeface="Aptos" panose="020B0004020202020204" pitchFamily="34" charset="0"/>
              </a:rPr>
              <a:t>4) Observability and resilience.</a:t>
            </a:r>
          </a:p>
          <a:p>
            <a:r>
              <a:rPr lang="en-US" sz="2000">
                <a:latin typeface="Aptos" panose="020B0004020202020204" pitchFamily="34" charset="0"/>
              </a:rPr>
              <a:t>5) Coverage sweep + watch items.</a:t>
            </a:r>
            <a:endParaRPr lang="nl-NL" sz="2000"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A7E2D6-A105-38FE-C770-BF05D093F695}"/>
              </a:ext>
            </a:extLst>
          </p:cNvPr>
          <p:cNvSpPr/>
          <p:nvPr/>
        </p:nvSpPr>
        <p:spPr>
          <a:xfrm>
            <a:off x="0" y="0"/>
            <a:ext cx="16256000" cy="431800"/>
          </a:xfrm>
          <a:prstGeom prst="rect">
            <a:avLst/>
          </a:prstGeom>
          <a:solidFill>
            <a:srgbClr val="6A6A6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59F4E-F515-C2EB-565C-56FFAD449F4C}"/>
              </a:ext>
            </a:extLst>
          </p:cNvPr>
          <p:cNvSpPr txBox="1"/>
          <p:nvPr/>
        </p:nvSpPr>
        <p:spPr>
          <a:xfrm>
            <a:off x="355600" y="76200"/>
            <a:ext cx="4572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nl-NL" sz="1200" b="1">
                <a:solidFill>
                  <a:srgbClr val="FFFFFF"/>
                </a:solidFill>
                <a:latin typeface="Aptos" panose="020B0004020202020204" pitchFamily="34" charset="0"/>
              </a:rPr>
              <a:t>Review &amp; Scorecard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9CACF3-D00C-92FC-EDEC-278104CA8698}"/>
              </a:ext>
            </a:extLst>
          </p:cNvPr>
          <p:cNvSpPr/>
          <p:nvPr/>
        </p:nvSpPr>
        <p:spPr>
          <a:xfrm>
            <a:off x="0" y="431800"/>
            <a:ext cx="101600" cy="8712200"/>
          </a:xfrm>
          <a:prstGeom prst="rect">
            <a:avLst/>
          </a:prstGeom>
          <a:solidFill>
            <a:srgbClr val="6A6A6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BAA957-F993-2ED7-16B5-89BD903FD707}"/>
              </a:ext>
            </a:extLst>
          </p:cNvPr>
          <p:cNvSpPr txBox="1"/>
          <p:nvPr/>
        </p:nvSpPr>
        <p:spPr>
          <a:xfrm>
            <a:off x="9652000" y="8737600"/>
            <a:ext cx="635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>
                <a:solidFill>
                  <a:srgbClr val="808080"/>
                </a:solidFill>
                <a:latin typeface="Aptos" panose="020B0004020202020204" pitchFamily="34" charset="0"/>
              </a:rPr>
              <a:t>Qesto Engineering Story - Interactive Draft</a:t>
            </a:r>
            <a:endParaRPr lang="nl-NL" sz="1100">
              <a:solidFill>
                <a:srgbClr val="80808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6017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87660-46D0-DEA8-F915-51FD9FED1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914400"/>
            <a:ext cx="14605000" cy="1104636"/>
          </a:xfrm>
        </p:spPr>
        <p:txBody>
          <a:bodyPr>
            <a:normAutofit/>
          </a:bodyPr>
          <a:lstStyle/>
          <a:p>
            <a:r>
              <a:rPr lang="en-US" sz="3400" b="1">
                <a:latin typeface="Aptos Display" panose="020B0004020202020204" pitchFamily="34" charset="0"/>
              </a:rPr>
              <a:t>Engineering Scorecard and Next Quarter</a:t>
            </a:r>
            <a:endParaRPr lang="nl-NL" sz="3400" b="1">
              <a:latin typeface="Aptos Display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499CE-AD25-2A78-0BDD-35A2371C4E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1200" y="2159000"/>
            <a:ext cx="14224000" cy="3626115"/>
          </a:xfrm>
        </p:spPr>
        <p:txBody>
          <a:bodyPr>
            <a:normAutofit/>
          </a:bodyPr>
          <a:lstStyle/>
          <a:p>
            <a:r>
              <a:rPr lang="en-US" sz="2000">
                <a:latin typeface="Aptos" panose="020B0004020202020204" pitchFamily="34" charset="0"/>
              </a:rPr>
              <a:t>Goal: End with measurable outcomes and next actions.</a:t>
            </a:r>
          </a:p>
          <a:p>
            <a:endParaRPr lang="en-US" sz="2000">
              <a:latin typeface="Aptos" panose="020B0004020202020204" pitchFamily="34" charset="0"/>
            </a:endParaRPr>
          </a:p>
          <a:p>
            <a:r>
              <a:rPr lang="en-US" sz="2000">
                <a:latin typeface="Aptos" panose="020B0004020202020204" pitchFamily="34" charset="0"/>
              </a:rPr>
              <a:t>On-click reveals:</a:t>
            </a:r>
          </a:p>
          <a:p>
            <a:r>
              <a:rPr lang="en-US" sz="2000">
                <a:latin typeface="Aptos" panose="020B0004020202020204" pitchFamily="34" charset="0"/>
              </a:rPr>
              <a:t>1) Core KPIs: lead time, deploy frequency, change-failure rate, MTTR.</a:t>
            </a:r>
          </a:p>
          <a:p>
            <a:r>
              <a:rPr lang="en-US" sz="2000">
                <a:latin typeface="Aptos" panose="020B0004020202020204" pitchFamily="34" charset="0"/>
              </a:rPr>
              <a:t>2) Test KPIs: pass trend, flaky trend, mean time to fix failures.</a:t>
            </a:r>
          </a:p>
          <a:p>
            <a:r>
              <a:rPr lang="en-US" sz="2000">
                <a:latin typeface="Aptos" panose="020B0004020202020204" pitchFamily="34" charset="0"/>
              </a:rPr>
              <a:t>3) Control KPIs: policy violations, alert precision, rollback speed.</a:t>
            </a:r>
          </a:p>
          <a:p>
            <a:r>
              <a:rPr lang="en-US" sz="2000">
                <a:latin typeface="Aptos" panose="020B0004020202020204" pitchFamily="34" charset="0"/>
              </a:rPr>
              <a:t>4) Next 90 days: top 3 hardening priorities.</a:t>
            </a:r>
            <a:endParaRPr lang="nl-NL" sz="2000"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C8B2AB-1B3E-75E4-CED2-1E5885DE395C}"/>
              </a:ext>
            </a:extLst>
          </p:cNvPr>
          <p:cNvSpPr/>
          <p:nvPr/>
        </p:nvSpPr>
        <p:spPr>
          <a:xfrm>
            <a:off x="0" y="0"/>
            <a:ext cx="16256000" cy="431800"/>
          </a:xfrm>
          <a:prstGeom prst="rect">
            <a:avLst/>
          </a:prstGeom>
          <a:solidFill>
            <a:srgbClr val="6A6A6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382763-E085-F7B0-1B70-7563F2AD6568}"/>
              </a:ext>
            </a:extLst>
          </p:cNvPr>
          <p:cNvSpPr txBox="1"/>
          <p:nvPr/>
        </p:nvSpPr>
        <p:spPr>
          <a:xfrm>
            <a:off x="355600" y="76200"/>
            <a:ext cx="4572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nl-NL" sz="1200" b="1">
                <a:solidFill>
                  <a:srgbClr val="FFFFFF"/>
                </a:solidFill>
                <a:latin typeface="Aptos" panose="020B0004020202020204" pitchFamily="34" charset="0"/>
              </a:rPr>
              <a:t>Review &amp; Scorecard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C28E72-64C2-3A5E-1E51-4FB8AE045DC9}"/>
              </a:ext>
            </a:extLst>
          </p:cNvPr>
          <p:cNvSpPr/>
          <p:nvPr/>
        </p:nvSpPr>
        <p:spPr>
          <a:xfrm>
            <a:off x="0" y="431800"/>
            <a:ext cx="101600" cy="8712200"/>
          </a:xfrm>
          <a:prstGeom prst="rect">
            <a:avLst/>
          </a:prstGeom>
          <a:solidFill>
            <a:srgbClr val="6A6A6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A922D3-BD74-8ABE-AB72-1505FA1A76A6}"/>
              </a:ext>
            </a:extLst>
          </p:cNvPr>
          <p:cNvSpPr txBox="1"/>
          <p:nvPr/>
        </p:nvSpPr>
        <p:spPr>
          <a:xfrm>
            <a:off x="9652000" y="8737600"/>
            <a:ext cx="635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>
                <a:solidFill>
                  <a:srgbClr val="808080"/>
                </a:solidFill>
                <a:latin typeface="Aptos" panose="020B0004020202020204" pitchFamily="34" charset="0"/>
              </a:rPr>
              <a:t>Qesto Engineering Story - Interactive Draft</a:t>
            </a:r>
            <a:endParaRPr lang="nl-NL" sz="1100">
              <a:solidFill>
                <a:srgbClr val="80808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9959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1284</Words>
  <Application>Microsoft Office PowerPoint</Application>
  <PresentationFormat>On-screen Show (16:10)</PresentationFormat>
  <Paragraphs>206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From Idea to Edge Reliability</vt:lpstr>
      <vt:lpstr>The 5-Layer System Map</vt:lpstr>
      <vt:lpstr>Technical Environment: Build to Edge Execution</vt:lpstr>
      <vt:lpstr>Workforce and Runtime Ownership Model</vt:lpstr>
      <vt:lpstr>Agents, Skills, and Markdown Control Plane</vt:lpstr>
      <vt:lpstr>Automation Layer: Deterministic Delivery</vt:lpstr>
      <vt:lpstr>Control Layer: Prevent, Detect, Correct</vt:lpstr>
      <vt:lpstr>Testing Strategy: Confidence Pipeline</vt:lpstr>
      <vt:lpstr>Vitest Deep Dive: Core Quality Signal</vt:lpstr>
      <vt:lpstr>Vitest Failure Triage Playbook</vt:lpstr>
      <vt:lpstr>10-Round Engineering Completeness Review</vt:lpstr>
      <vt:lpstr>Engineering Scorecard and Next Quarter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Jens Oostelaar</dc:creator>
  <cp:lastModifiedBy>Jens Oostelaar</cp:lastModifiedBy>
  <cp:revision>1</cp:revision>
  <dcterms:created xsi:type="dcterms:W3CDTF">2026-04-28T16:02:14Z</dcterms:created>
  <dcterms:modified xsi:type="dcterms:W3CDTF">2026-04-28T16:02:14Z</dcterms:modified>
</cp:coreProperties>
</file>
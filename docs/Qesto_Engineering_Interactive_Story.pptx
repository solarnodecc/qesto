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715000" type="screen16x10"/>
  <p:notesSz cx="6858000" cy="9144000"/>
  <p:defaultTextStyle>
    <a:defPPr>
      <a:defRPr lang="nl-NL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3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F45F3-7C41-4E63-9408-B0AE62E91713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26A8E-3D09-409C-9DDD-761B4ADA89D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203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This is not a platform tour; it is the operating system behind consistent releases.</a:t>
            </a:r>
          </a:p>
          <a:p>
            <a:r>
              <a:rPr lang="en-US" sz="1400">
                <a:latin typeface="Aptos" panose="020B0004020202020204" pitchFamily="34" charset="0"/>
              </a:rPr>
              <a:t>- Every feature must pass through five layers before we trust it in production.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does reliability usually break first in your team: code quality, process handoff, or operational control?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509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Each upper layer fails if lower layers are weak.</a:t>
            </a:r>
          </a:p>
          <a:p>
            <a:r>
              <a:rPr lang="en-US" sz="1400">
                <a:latin typeface="Aptos" panose="020B0004020202020204" pitchFamily="34" charset="0"/>
              </a:rPr>
              <a:t>- Velocity comes from automation; safety comes from controls.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layer is usually missing in architecture presentations at your company?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357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Typed boundaries prevent contract drift.</a:t>
            </a:r>
          </a:p>
          <a:p>
            <a:r>
              <a:rPr lang="en-US" sz="1400">
                <a:latin typeface="Aptos" panose="020B0004020202020204" pitchFamily="34" charset="0"/>
              </a:rPr>
              <a:t>- PR checks validate correctness before merge.</a:t>
            </a:r>
          </a:p>
          <a:p>
            <a:r>
              <a:rPr lang="en-US" sz="1400">
                <a:latin typeface="Aptos" panose="020B0004020202020204" pitchFamily="34" charset="0"/>
              </a:rPr>
              <a:t>- Telemetry closes the loop and informs hardening.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Do you treat observability as the end of delivery, or part of development?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86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Tooling does not remove ownership; it sharpens it.</a:t>
            </a:r>
          </a:p>
          <a:p>
            <a:r>
              <a:rPr lang="en-US" sz="1400">
                <a:latin typeface="Aptos" panose="020B0004020202020204" pitchFamily="34" charset="0"/>
              </a:rPr>
              <a:t>- No unlabeled handoffs.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 handoffs currently lose context in your flow?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795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AI accelerates execution, markdown defines boundaries.</a:t>
            </a:r>
          </a:p>
          <a:p>
            <a:r>
              <a:rPr lang="en-US" sz="1400">
                <a:latin typeface="Aptos" panose="020B0004020202020204" pitchFamily="34" charset="0"/>
              </a:rPr>
              <a:t>- Specialist agents reduce context switching.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guardrails must exist before AI-generated changes can merge?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8564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Automation is only useful when deterministic.</a:t>
            </a:r>
          </a:p>
          <a:p>
            <a:r>
              <a:rPr lang="en-US" sz="1400">
                <a:latin typeface="Aptos" panose="020B0004020202020204" pitchFamily="34" charset="0"/>
              </a:rPr>
              <a:t>- Pipeline is a gatekeeper, not only a dashboard.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Are your CI signals decision-grade evidence or green/red noise?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7014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Controls enable speed at scale.</a:t>
            </a:r>
          </a:p>
          <a:p>
            <a:r>
              <a:rPr lang="en-US" sz="1400">
                <a:latin typeface="Aptos" panose="020B0004020202020204" pitchFamily="34" charset="0"/>
              </a:rPr>
              <a:t>- Recovery speed is as important as prevention.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a severe issue ships today, how quickly do you get reliable signal?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0216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Fast tests protect developer flow.</a:t>
            </a:r>
          </a:p>
          <a:p>
            <a:r>
              <a:rPr lang="en-US" sz="1400">
                <a:latin typeface="Aptos" panose="020B0004020202020204" pitchFamily="34" charset="0"/>
              </a:rPr>
              <a:t>- Deep tests protect release integrity.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stage currently adds most false confidence in your pipeline?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814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Vitest is a decision system, not only a test runner.</a:t>
            </a:r>
          </a:p>
          <a:p>
            <a:r>
              <a:rPr lang="en-US" sz="1400">
                <a:latin typeface="Aptos" panose="020B0004020202020204" pitchFamily="34" charset="0"/>
              </a:rPr>
              <a:t>- Optimize for fast local feedback + deterministic CI.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share of failing tests are actionable regressions vs unstable behavior?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9839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Failed tests without owners become organizational debt.</a:t>
            </a:r>
          </a:p>
          <a:p>
            <a:r>
              <a:rPr lang="en-US" sz="1400">
                <a:latin typeface="Aptos" panose="020B0004020202020204" pitchFamily="34" charset="0"/>
              </a:rPr>
              <a:t>- Resolution must improve future signal quality.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Who owns flaky test debt, and what SLA is applied?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7579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Pass does not mean done; each round adds watch items.</a:t>
            </a:r>
          </a:p>
          <a:p>
            <a:r>
              <a:rPr lang="en-US" sz="1400">
                <a:latin typeface="Aptos" panose="020B0004020202020204" pitchFamily="34" charset="0"/>
              </a:rPr>
              <a:t>- Quarterly revalidation keeps design and reality aligned.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How often do you formally revalidate architecture using incident evidence?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363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Reliability becomes real when attached to metrics.</a:t>
            </a:r>
          </a:p>
          <a:p>
            <a:r>
              <a:rPr lang="en-US" sz="1400">
                <a:latin typeface="Aptos" panose="020B0004020202020204" pitchFamily="34" charset="0"/>
              </a:rPr>
              <a:t>- Next quarter focuses on reducing variability.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you could improve one KPI next quarter, which most increases customer trust?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26A8E-3D09-409C-9DDD-761B4ADA89D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9935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C3A-8D9C-C931-F7E0-9E5266067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ECBB7-528B-AB2C-FB3D-31F56180A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94F0-5E2E-E371-6BC0-C503DCCE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57622-CD0D-6165-835B-E9A57086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8D9B0-2FB3-9C25-F2F4-955749C0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596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4539-EBF3-C964-9129-6E880B40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80E9-F947-2F7B-4EFD-2DCAADD7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1C29-3573-D6F5-4DBF-7F5D198E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5B35D-9427-3DFF-9BFB-8FC61554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24C19-F7B6-0623-E14F-AEE2ABAC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9377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15E1-8E3E-1166-9F69-AB0CCACE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0681-42E2-AC1F-A827-A1784CF7D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956B5-9D4B-69D1-AE56-598EA594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C101E-4F52-FA4E-EC62-D904F90C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16215-6ACF-AB57-D89F-D7D99027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29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CE5C-108E-BC61-4D54-EFBF2961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954C4-3FEC-D7E8-8234-A8E2A847E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5C4EE-2A31-CCC0-B100-DA0C488B1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CC852-F0C8-98DB-7ECB-955F42C9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C1A44-2682-273E-1B53-0639700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A2428-8EE0-A922-153C-303FCF1E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699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E894-F4B8-1445-610C-1A7140F6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9A9C3-33D7-2D61-E811-B8EE6E85E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711B9-93F8-63CF-3D50-79D35F90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9DFDF-E06F-C3A0-4C11-CC16CEBF0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D8DE3-3717-0FCB-C11E-DCF24EA2E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58D68-9E7E-8B7E-88DD-15CFA94F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70CB6-1D85-ECB2-ADBD-C99C09AD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62F6E-209F-62C2-7B50-994460A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922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75AF-A619-F6CF-B829-402BC91E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16952-F6EE-0110-4C9D-73DCE7EB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B91BD-069C-9F46-83F2-E2B3F7E7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10ED5-CB0A-60C2-9808-CD48F4D4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082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F8F17-8970-FC4F-42ED-3FD70A9DE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23A35-A248-B48C-2665-AA08B3B8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48C98-1D5F-58B4-F15E-BD1B0395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42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4E49-9D45-B312-B456-9915EEE0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4F4A-163B-F539-DF72-9C87C0D68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F5A80-D4FD-F9FF-BF25-C8F3FE309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DACC5-BDC6-E542-E5D0-91DF2910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6B534-EBFE-C6B7-27C8-22D3C9C9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A59E1-16F7-A23E-04B4-787DA5F1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751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32BD-A854-4D3A-0533-B7E96224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D0D00-E1D6-0D49-89B9-B8AB8DB63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A66E8-91BC-8BB1-1FB0-90177CF5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C57DE-F90C-7699-A9B9-C8AEBD57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A9EAA-D9DA-F605-86FD-1EBCE4FA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F0116-A0B9-98AF-6901-19331393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151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4C99-1C4A-8760-C57B-238BA06C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439A8-6E14-0E65-0EF8-8F59E953B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D89F-3B6D-5EB7-2885-5E8888E5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E964-3026-A655-1140-5BB17892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1016-6692-51BF-BD32-1E7F3371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696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3D0A6-8CAF-97B9-566C-59CFB6EE6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EF60F-7A46-4F90-165A-55FAD73BB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ABE0-9EA4-E0AD-C3D5-A2895E9A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98108-438C-F1E6-EEAA-CFB60DA2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45976-0365-B780-3E88-63D8F3D6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135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C275-C30A-6B29-52C2-10F4D55F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8D2F-D617-F545-FEF8-B8843A136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59B1-4EA4-6DA2-A0E4-D8A9324B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2025-B201-E039-D271-4A4D38E0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20774-5A7F-7836-9989-38BCAB7A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243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7E843-F2BC-46AF-E567-79424442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5B95-74B6-51D3-03F6-537586831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D1B2F-A76D-C74B-8434-BE49B3E50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89432-FA76-47E9-92FC-5812A54C10FB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9E540-ABC8-1C66-410D-21264D4BE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FE922-3FC9-A82E-C2CB-9F9FEFE45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4B418-6464-4176-B518-476F9A81D71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382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97E7-2694-CEB7-F0D8-D1563DB50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1117600"/>
            <a:ext cx="14605000" cy="1989667"/>
          </a:xfrm>
        </p:spPr>
        <p:txBody>
          <a:bodyPr>
            <a:normAutofit/>
          </a:bodyPr>
          <a:lstStyle/>
          <a:p>
            <a:r>
              <a:rPr lang="en-US" sz="4200" b="1">
                <a:latin typeface="Aptos Display" panose="020B0004020202020204" pitchFamily="34" charset="0"/>
              </a:rPr>
              <a:t>From Idea to Edge Reliability</a:t>
            </a:r>
            <a:endParaRPr lang="nl-NL" sz="4200" b="1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7DAF7-0C93-132A-1CA0-37DB59E1B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2667000"/>
            <a:ext cx="14351000" cy="1379802"/>
          </a:xfrm>
        </p:spPr>
        <p:txBody>
          <a:bodyPr>
            <a:noAutofit/>
          </a:bodyPr>
          <a:lstStyle/>
          <a:p>
            <a:r>
              <a:rPr lang="en-US" sz="1900">
                <a:latin typeface="Aptos" panose="020B0004020202020204" pitchFamily="34" charset="0"/>
              </a:rPr>
              <a:t>Goal: Frame reliability as an end-to-end engineering system.</a:t>
            </a:r>
          </a:p>
          <a:p>
            <a:endParaRPr lang="en-US" sz="1900">
              <a:latin typeface="Aptos" panose="020B0004020202020204" pitchFamily="34" charset="0"/>
            </a:endParaRPr>
          </a:p>
          <a:p>
            <a:r>
              <a:rPr lang="en-US" sz="19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1900">
                <a:latin typeface="Aptos" panose="020B0004020202020204" pitchFamily="34" charset="0"/>
              </a:rPr>
              <a:t>1) Product promise: real-time sessions with low latency.</a:t>
            </a:r>
          </a:p>
          <a:p>
            <a:r>
              <a:rPr lang="en-US" sz="1900">
                <a:latin typeface="Aptos" panose="020B0004020202020204" pitchFamily="34" charset="0"/>
              </a:rPr>
              <a:t>2) Engineering challenge: multi-tenant, secure, edge-first.</a:t>
            </a:r>
          </a:p>
          <a:p>
            <a:r>
              <a:rPr lang="en-US" sz="1900">
                <a:latin typeface="Aptos" panose="020B0004020202020204" pitchFamily="34" charset="0"/>
              </a:rPr>
              <a:t>3) Answer: five connected layers.</a:t>
            </a:r>
            <a:endParaRPr lang="nl-NL" sz="19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A425E-4D6F-8D15-984E-BD9FF146387B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334AE-426B-A2E8-B0B4-E1F626B303EE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D720A3-5245-83F1-6C75-FD38F7072A42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C7F3A-84F9-6120-FCB9-C49C64D687D1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02CBE-EF63-A170-41B3-5B9BA2B2568C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3BFAF-8E14-B9D5-F276-B07B6078B93F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DECEF8-C082-3089-BE5E-CBAB75A0CC2F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Idea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811472D-A8F1-EA6B-5BD4-DAFC7DEC2DFE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2F72B-D837-84CB-44F6-59006540A88D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DD33DF4-169A-2A74-5D36-844D2D6AB566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2B83E5-0493-ADB7-C1BC-71C9479E31D2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D60DE43-F4E4-F79F-BE21-53DD87E0EBBF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4D792-7E96-AA62-1B8B-A4FE253101EA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F07F3BE-2460-DCFB-B586-E8E2D7166B34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8191E3-45D8-D2D5-C128-E06783E1C45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Observe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134BA2C-9782-6EA5-C26E-A01680AAA990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BDB29-627A-0D1D-EA6E-3B3E5CBB6649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</p:spTree>
    <p:extLst>
      <p:ext uri="{BB962C8B-B14F-4D97-AF65-F5344CB8AC3E}">
        <p14:creationId xmlns:p14="http://schemas.microsoft.com/office/powerpoint/2010/main" val="193930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5C92-CB73-A78D-2D54-7C6BF53C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The 5-Layer System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37E38-25B9-C3F9-9241-66683AA59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Introduce architecture and delivery in one visual.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Technical Environment</a:t>
            </a:r>
          </a:p>
          <a:p>
            <a:r>
              <a:rPr lang="en-US" sz="2000">
                <a:latin typeface="Aptos" panose="020B0004020202020204" pitchFamily="34" charset="0"/>
              </a:rPr>
              <a:t>2) Workforce and Runtime Actors</a:t>
            </a:r>
          </a:p>
          <a:p>
            <a:r>
              <a:rPr lang="en-US" sz="2000">
                <a:latin typeface="Aptos" panose="020B0004020202020204" pitchFamily="34" charset="0"/>
              </a:rPr>
              <a:t>3) Agents, Skills, Markdown</a:t>
            </a:r>
          </a:p>
          <a:p>
            <a:r>
              <a:rPr lang="en-US" sz="2000">
                <a:latin typeface="Aptos" panose="020B0004020202020204" pitchFamily="34" charset="0"/>
              </a:rPr>
              <a:t>4) Automation Layer</a:t>
            </a:r>
          </a:p>
          <a:p>
            <a:r>
              <a:rPr lang="en-US" sz="2000">
                <a:latin typeface="Aptos" panose="020B0004020202020204" pitchFamily="34" charset="0"/>
              </a:rPr>
              <a:t>5) Control Layer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9FF38-9C5A-C3D8-FF9F-4A3BFCB8EC01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B4778-009B-91C1-7989-DC4628BE4288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EACAC-BB0B-4C2B-5004-4E8ECC40BEE8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BF97F-BBD7-BDE4-26B6-3428E4EAD176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89777C-F70C-5146-225E-525BB0A33BAD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34449-3F9B-40AF-EA59-ADDD9D5D7485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E8529-89A9-8916-DDDA-C3367B96A31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Environment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E78F34E-CB80-03B1-1333-77E5A2E2405C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D623CD-04CD-2F84-FC9D-58A533F0462E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Workforce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EC9F92E-0B61-2C28-42E7-6F43A85739D2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D16AF-FD91-1B60-1AA8-F8B232324F80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437429F-4E7A-3664-2CD9-16B1E5483897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2CFCF-1198-13BC-E889-54EAAB90B698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Automation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9D506D9-B649-62B5-9B48-A1D1E5A4E0E1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0B5C33-3F95-4E21-207A-CA8BB0DB8B06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90588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EF4F-9538-05B4-BBD3-E3E6F58A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Technical Environment: Build to Edge Execution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EA823-EB4B-9E83-91F7-62059597F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Show path from local code to runtime behavior.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Cursor + AI-assisted implementation.</a:t>
            </a:r>
          </a:p>
          <a:p>
            <a:r>
              <a:rPr lang="nl-NL" sz="2000">
                <a:latin typeface="Aptos" panose="020B0004020202020204" pitchFamily="34" charset="0"/>
              </a:rPr>
              <a:t>2) GitHub PR checks and review.</a:t>
            </a:r>
          </a:p>
          <a:p>
            <a:r>
              <a:rPr lang="nl-NL" sz="2000">
                <a:latin typeface="Aptos" panose="020B0004020202020204" pitchFamily="34" charset="0"/>
              </a:rPr>
              <a:t>3) Cloudflare Pages Functions + Durable Objects + D1/KV.</a:t>
            </a:r>
          </a:p>
          <a:p>
            <a:r>
              <a:rPr lang="nl-NL" sz="2000">
                <a:latin typeface="Aptos" panose="020B0004020202020204" pitchFamily="34" charset="0"/>
              </a:rPr>
              <a:t>4) Edge execution + observability feedback.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6E864C-34A8-3B87-6BA2-ADDBFD2AFA8E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04078-5FAE-ABA6-6239-6ABB76697D08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EC94B-D6E9-8E0C-D1C2-B99019D73D7C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9C749-9C00-E486-1801-899765237980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37A55-6B8C-8B55-08FF-246E8172E726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801DB-103B-13BC-6076-ABF287301B12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0301DF-BEBA-71F8-4C2B-5CCDC715517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Dev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C8002D3-43CF-9279-BBAC-5960CC91983A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4E233-77A9-3CC1-4DFC-81346B8BD494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186B68B-110B-CD58-96EA-1CF6F6A89B8D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08F34A-A29D-654D-5089-394E319E84D8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1687AE6-2E0C-E012-6B28-A2BFBD4FD945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24A3B-97CD-5459-19FB-262F77A1C54B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Cloudflare 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9DF63E7-B969-277E-CA3D-83EC71343E81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2BE83F-A287-F157-CA02-1D930B16487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Edge Runtime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F2EB392-6278-9D03-8C09-1E85F7D920EC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13A1EC-0331-9005-4466-511ACCF38535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295580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B54C-9B7D-674A-E376-B760EAAA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Workforce and Runtime Ownership Model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F7F1F-8CC1-27F2-B37F-1AA7436D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accountability explicit across humans and machine actors.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Human owners: Product, Engineer, Reviewer, Security, DevOps/On-call.</a:t>
            </a:r>
          </a:p>
          <a:p>
            <a:r>
              <a:rPr lang="en-US" sz="2000">
                <a:latin typeface="Aptos" panose="020B0004020202020204" pitchFamily="34" charset="0"/>
              </a:rPr>
              <a:t>2) Machine actors: CI runners, edge workers, Durable Objects, scanners.</a:t>
            </a:r>
          </a:p>
          <a:p>
            <a:r>
              <a:rPr lang="en-US" sz="2000">
                <a:latin typeface="Aptos" panose="020B0004020202020204" pitchFamily="34" charset="0"/>
              </a:rPr>
              <a:t>3) Handoff chain: backlog -&gt; implementation -&gt; review -&gt; release -&gt; incident ownership.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8EB6C-4292-1DF1-903B-85F19839E64D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97280-33B5-48FA-EF2A-A88C6481FBE6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ED4A9-7C0B-855C-193A-3894A56AAD5C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8CA3F-22F2-5972-8D93-382A415DBC99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80D40-9B4C-F41E-A583-6E832FB53D3C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13A59-8B74-5391-465D-CDB30BD25E34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2800F-F98A-4ED9-2E05-77206912CCE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Backlog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F74F327-BD25-B0DB-6794-0BC2D0DE8B60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F9588-F9A7-1ADC-1D28-07CFA2D1C598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Owner Assigned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C2CA8EF-F02B-FCB4-42EF-3389635461C2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86855-DF6A-00C6-4255-91CB837681A7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Implement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5B53AFA-190B-21DC-22CB-825CC669C761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84E86-E8EE-DE02-1578-071D7356C866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B9C8BD1-1C69-167C-4552-C5D83E9EA607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E37C13-BAD0-7CF3-7CCA-FAFCC3BFEB6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Release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7DEAFD8-F9B8-B90A-4806-90C0CF753DA1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7964BE-ADB1-FEBB-0401-D759CB020FD2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On-call</a:t>
            </a:r>
          </a:p>
        </p:txBody>
      </p:sp>
    </p:spTree>
    <p:extLst>
      <p:ext uri="{BB962C8B-B14F-4D97-AF65-F5344CB8AC3E}">
        <p14:creationId xmlns:p14="http://schemas.microsoft.com/office/powerpoint/2010/main" val="300476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F403-6683-A081-1C2C-79BC7A0F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Agents, Skills, and Markdown Control Plane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25204-97E4-EE69-3739-83D47B67B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AI acceleration with governance boundaries.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Main agent vs specialist subagents.</a:t>
            </a:r>
          </a:p>
          <a:p>
            <a:r>
              <a:rPr lang="en-US" sz="2000">
                <a:latin typeface="Aptos" panose="020B0004020202020204" pitchFamily="34" charset="0"/>
              </a:rPr>
              <a:t>2) Skills as reusable operating playbooks.</a:t>
            </a:r>
          </a:p>
          <a:p>
            <a:r>
              <a:rPr lang="en-US" sz="2000">
                <a:latin typeface="Aptos" panose="020B0004020202020204" pitchFamily="34" charset="0"/>
              </a:rPr>
              <a:t>3) Markdown as durable policy interface.</a:t>
            </a:r>
          </a:p>
          <a:p>
            <a:r>
              <a:rPr lang="en-US" sz="2000">
                <a:latin typeface="Aptos" panose="020B0004020202020204" pitchFamily="34" charset="0"/>
              </a:rPr>
              <a:t>4) Human review remains merge authority.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13852-D370-CC96-C3B0-8B7D9E4C4CF7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8C62A-254A-916E-D869-376B34F6BE0D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BD3AC-2EF9-DF63-7F38-CC6BB723047E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610B6-CE16-54FF-E954-534B37E9AF36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BBA356-7805-C7D6-784C-3091B8810755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BC2FF-EEED-D1EC-0BBD-3FC53AB6817E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F2A08-4A55-3571-419C-C35778F8D375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Task Intake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72FF8B3-453F-8C2B-D6A7-5EBEB7369BEF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2D7CF5-822E-50A6-453A-78063BBCE2D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 Routing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4383481-E5AD-4D10-D6F9-1386DD5F61DD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F9B4E-3EFF-59DF-B368-5517D44E0754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Skill Constraints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9F91F01-A5AA-3615-BF0D-F69C20EEBE2E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6B0ADE-86FE-A9D9-D7F7-590152F8E20C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Code/Docs Output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DDCCE95-1A2E-7BBA-E527-EBC5F536B525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503DF-A741-D5FD-5D44-0DDD11181C92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364533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67E42-A70F-49A8-8932-894180EE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Automation Layer: Deterministic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4ED71-7DB5-09CB-B1D8-934B1E790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Explain how automation creates speed with trust.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Triggers: PR, push, scheduled jobs.</a:t>
            </a:r>
          </a:p>
          <a:p>
            <a:r>
              <a:rPr lang="en-US" sz="2000">
                <a:latin typeface="Aptos" panose="020B0004020202020204" pitchFamily="34" charset="0"/>
              </a:rPr>
              <a:t>2) Checks: lint, type-check, tests, coverage, drift, security.</a:t>
            </a:r>
          </a:p>
          <a:p>
            <a:r>
              <a:rPr lang="en-US" sz="2000">
                <a:latin typeface="Aptos" panose="020B0004020202020204" pitchFamily="34" charset="0"/>
              </a:rPr>
              <a:t>3) Gates: pass/fail promotion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Artifacts: logs and trend evidence.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036A2A-6131-889E-6874-85B87FE45296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E6737-F621-3F38-7D0E-987C67298A34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4307B-3661-85E3-52A7-C6B85252959B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075A8-5256-12DB-38CB-E10DEF855181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94C05-913A-8DD8-9C95-E0377AB2A98E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192E6-0455-843B-837D-6A7DBD87FD25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F15FB-0F9C-2931-5D7C-89C9009DB33B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Trigger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083A025-5A2A-CA6D-5F32-7DADB3258340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52C360-7842-BC0A-ABED-D784E2E84AB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Checks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9C0BAAF-AC1E-2C12-97C0-81D87902B279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DBFE86-28A8-4A77-13AD-FCA82E103274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Artifacts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EC58D3C-9C1D-4714-E32E-36E942B0B155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68FDD5-88ED-F2D5-190B-B58B3F238590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Gate Decision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29BC0BD-36F8-0392-5999-E0F2911E5E99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82C18-79D8-FE4D-AFBC-849F82C838C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Promote/Block</a:t>
            </a:r>
          </a:p>
        </p:txBody>
      </p:sp>
    </p:spTree>
    <p:extLst>
      <p:ext uri="{BB962C8B-B14F-4D97-AF65-F5344CB8AC3E}">
        <p14:creationId xmlns:p14="http://schemas.microsoft.com/office/powerpoint/2010/main" val="104991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C4B6-B140-5D58-5784-A81B44C8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Control Layer: Prevent, Detect, Correct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84EDB-6BD2-09E2-013C-03BB55ACE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Position controls as engineering enablers.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Preventive: RBAC, branch protections, secrets hygiene.</a:t>
            </a:r>
          </a:p>
          <a:p>
            <a:r>
              <a:rPr lang="nl-NL" sz="2000">
                <a:latin typeface="Aptos" panose="020B0004020202020204" pitchFamily="34" charset="0"/>
              </a:rPr>
              <a:t>2) Detective: scans, metrics, alerts, audit trail.</a:t>
            </a:r>
          </a:p>
          <a:p>
            <a:r>
              <a:rPr lang="nl-NL" sz="2000">
                <a:latin typeface="Aptos" panose="020B0004020202020204" pitchFamily="34" charset="0"/>
              </a:rPr>
              <a:t>3) Corrective: rollback, hotfix, postmortem hardening.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EC1DE-C194-3514-8753-8A73DCF24785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EBC6F-1B94-5172-A9FE-A6F34040CF15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A39F2-0919-F82A-2093-4DDEC334D347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41525-15EC-F722-93E1-574BFBCEF785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DD51C-9877-D638-A684-F213C6CB305C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EC970-1327-D48B-F38A-37A7CD461150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A71E89-6CCA-E31C-22DD-F035A6CFEB8D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Prevent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9484098-5DD0-5D96-93C1-5C948D5EAD2B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D37D0-7414-9B82-92A8-D5D89F08678B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C9533A-CDE1-5ED6-5B1D-E2B8273C1FD0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945F6-3450-6959-A9CD-F30C78C68A88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Respond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ECB1E0A-68E6-3734-A360-13BE9F03ED05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D29AD-0F39-30A7-748F-655531B9C392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Recover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A207C2A-70C7-D311-088C-A1555C8344D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B3230-0726-BC11-EFDD-C3BEC524BC22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Harden</a:t>
            </a:r>
          </a:p>
        </p:txBody>
      </p:sp>
    </p:spTree>
    <p:extLst>
      <p:ext uri="{BB962C8B-B14F-4D97-AF65-F5344CB8AC3E}">
        <p14:creationId xmlns:p14="http://schemas.microsoft.com/office/powerpoint/2010/main" val="3360189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E7A2-7A69-E17B-B2CD-3339F9B1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Testing Strategy: Confidence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58C23-6E29-106E-CFA3-C024491FE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Present testing as staged confidence, not one gate.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Static validation (lint/type/format).</a:t>
            </a:r>
          </a:p>
          <a:p>
            <a:r>
              <a:rPr lang="en-US" sz="2000">
                <a:latin typeface="Aptos" panose="020B0004020202020204" pitchFamily="34" charset="0"/>
              </a:rPr>
              <a:t>2) Unit tests (fast module confidence).</a:t>
            </a:r>
          </a:p>
          <a:p>
            <a:r>
              <a:rPr lang="en-US" sz="2000">
                <a:latin typeface="Aptos" panose="020B0004020202020204" pitchFamily="34" charset="0"/>
              </a:rPr>
              <a:t>3) Integration tests (cross-boundary behavior).</a:t>
            </a:r>
          </a:p>
          <a:p>
            <a:r>
              <a:rPr lang="en-US" sz="2000">
                <a:latin typeface="Aptos" panose="020B0004020202020204" pitchFamily="34" charset="0"/>
              </a:rPr>
              <a:t>4) Stability guard (flaky detection/quarantine).</a:t>
            </a:r>
          </a:p>
          <a:p>
            <a:r>
              <a:rPr lang="en-US" sz="2000">
                <a:latin typeface="Aptos" panose="020B0004020202020204" pitchFamily="34" charset="0"/>
              </a:rPr>
              <a:t>5) Post-merge runtime validation.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7DD173-A9E7-FF29-F2BB-6A54FF8B4757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1E608-8B96-ED8D-0E87-35B85D244E8E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4D6B3-0EB5-0B34-2955-1F15CD40E972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9DECD-A254-9692-25BB-9EC2B8DB28DC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0E1BDB-2651-61E5-9333-135886C5739D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96C67-CAC8-CD30-DC15-F3EEA6DAEB9E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02AEB-FD8C-2340-4B1C-F4ECDF222D1E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Static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6893E8-D5BC-CA77-C045-C8454317F6AD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16C11-E9FD-02B1-0E19-BBF692422EB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Unit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3309FB8-85C7-F190-A286-19EB6D3B27FD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87D5D7-2BE4-BE03-D10F-8D2C728DBFAC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4CFC523-78C7-DEA2-A6FA-3B156CEEBA8A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FAE365-9B3B-0BDC-60E4-3E1FC58B0ED3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Stability Guard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66BD180-C224-56BE-3FE5-578658659071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120EA-EE3D-A430-3A41-0038DA4BD672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Runtime Validation</a:t>
            </a:r>
          </a:p>
        </p:txBody>
      </p:sp>
    </p:spTree>
    <p:extLst>
      <p:ext uri="{BB962C8B-B14F-4D97-AF65-F5344CB8AC3E}">
        <p14:creationId xmlns:p14="http://schemas.microsoft.com/office/powerpoint/2010/main" val="76227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4073-5D3B-912F-F96D-4422C771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Deep Dive: Core Quality Signal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CF99E-0EF9-5307-F58D-06E621944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how Vitest drives merge and release decisions.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Authoring: tests evolve with code.</a:t>
            </a:r>
          </a:p>
          <a:p>
            <a:r>
              <a:rPr lang="en-US" sz="2000">
                <a:latin typeface="Aptos" panose="020B0004020202020204" pitchFamily="34" charset="0"/>
              </a:rPr>
              <a:t>2) Local run: immediate regression signal.</a:t>
            </a:r>
          </a:p>
          <a:p>
            <a:r>
              <a:rPr lang="en-US" sz="2000">
                <a:latin typeface="Aptos" panose="020B0004020202020204" pitchFamily="34" charset="0"/>
              </a:rPr>
              <a:t>3) CI run: standardized gate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Triage: regression vs flaky classification.</a:t>
            </a:r>
          </a:p>
          <a:p>
            <a:r>
              <a:rPr lang="en-US" sz="2000">
                <a:latin typeface="Aptos" panose="020B0004020202020204" pitchFamily="34" charset="0"/>
              </a:rPr>
              <a:t>5) Learning: incidents become permanent tests.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43082-F13B-242C-56D8-2CAC88BAEE56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EABA1-725B-EF3B-782C-D8D18747A6E9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327E7-78F5-2075-97B7-714C4E37DF74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257AC-E5C5-7E9F-C76C-62CBCA1D9EE1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70530-3F8E-31F3-6F78-3C52DFB06388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25A74-EA19-CF49-F36C-A8E5607B3D4A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5EEC08-9FF5-E34D-61BE-8805C0A44F4C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Write Test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4D2BBB2-66B0-55ED-86F8-8237DDF9A774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F65659-820F-7B90-DCAA-91E785008EFA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Run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202DB5E-5AF1-3751-CD4D-916BCE42EEBC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6C0CC-B379-DCF8-37A3-C9330CD19F3F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 Run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670E1FC-A73E-7AE1-9773-827C03128B3C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187F3D-D5AB-2BDB-BA8C-DEA265199393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Triage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4F10B17-FE01-41CE-64D9-354C02B60387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2281B8-759B-851B-25ED-9095FF783C5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Fix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D0C508E-AB34-ECCE-90EB-5478F0AE2EBE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38CDFD-0247-DB36-BD92-4A107C309E1C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Regression Proof</a:t>
            </a:r>
          </a:p>
        </p:txBody>
      </p:sp>
    </p:spTree>
    <p:extLst>
      <p:ext uri="{BB962C8B-B14F-4D97-AF65-F5344CB8AC3E}">
        <p14:creationId xmlns:p14="http://schemas.microsoft.com/office/powerpoint/2010/main" val="149799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C00A-C6A3-DAB2-5D9C-DC4AE1B2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Failure Triage Playbook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99A26-98DB-408B-590A-468E3C59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failure response operational and repeatable.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Classify fail: regression, test bug, environment issue, flake.</a:t>
            </a:r>
          </a:p>
          <a:p>
            <a:r>
              <a:rPr lang="en-US" sz="2000">
                <a:latin typeface="Aptos" panose="020B0004020202020204" pitchFamily="34" charset="0"/>
              </a:rPr>
              <a:t>2) Assign owner and fix window.</a:t>
            </a:r>
          </a:p>
          <a:p>
            <a:r>
              <a:rPr lang="en-US" sz="2000">
                <a:latin typeface="Aptos" panose="020B0004020202020204" pitchFamily="34" charset="0"/>
              </a:rPr>
              <a:t>3) Decide: patch now, quarantine, or block release.</a:t>
            </a:r>
          </a:p>
          <a:p>
            <a:r>
              <a:rPr lang="en-US" sz="2000">
                <a:latin typeface="Aptos" panose="020B0004020202020204" pitchFamily="34" charset="0"/>
              </a:rPr>
              <a:t>4) Update suite and policy after resolution.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AE398E-4BDD-D528-303E-012C47C5B6AC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15092-126E-BBBA-FEAE-0E6D7238C9FA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D0DB4-FEA3-1588-11EC-D6D1C9EF8245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C1137-25B1-9597-5061-09C650E530D8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9DC7FE-3146-D098-1556-988AE9D0359A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BD34C-9093-CD51-9F28-6179F5330CC0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996B1F-F9FC-3887-89E3-5B5D766DC9AF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Fail Detected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237B3B2-85ED-0F34-C425-20DBA76FE8E0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F6533-623C-AD98-4064-581CBD59DBA6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Classify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B2B4F84-8C24-B3D1-238F-220CF862C435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E6799A-A904-2F2E-D4EC-29B037DF03E9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Assign Owner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F19112B-2DF5-76FE-A345-9C9054D5DC2F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EC0F45-D412-6292-6D84-4DA72E029C36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Patch/Quarantine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D0BBC4E-0793-E089-E875-93C87E7966F3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B81BCD-D502-4DF7-400E-0A514ABF2CD1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Policy Update</a:t>
            </a:r>
          </a:p>
        </p:txBody>
      </p:sp>
    </p:spTree>
    <p:extLst>
      <p:ext uri="{BB962C8B-B14F-4D97-AF65-F5344CB8AC3E}">
        <p14:creationId xmlns:p14="http://schemas.microsoft.com/office/powerpoint/2010/main" val="1502650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6866-7A79-8788-813F-D37FA255B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10-Round Engineering Completeness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FB61F-E0B6-B9D6-DBAA-3344FE22A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Demonstrate rigor beyond architecture diagrams.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Boundaries and topology.</a:t>
            </a:r>
          </a:p>
          <a:p>
            <a:r>
              <a:rPr lang="en-US" sz="2000">
                <a:latin typeface="Aptos" panose="020B0004020202020204" pitchFamily="34" charset="0"/>
              </a:rPr>
              <a:t>2) Execution path and determinism.</a:t>
            </a:r>
          </a:p>
          <a:p>
            <a:r>
              <a:rPr lang="en-US" sz="2000">
                <a:latin typeface="Aptos" panose="020B0004020202020204" pitchFamily="34" charset="0"/>
              </a:rPr>
              <a:t>3) Ownership and governance.</a:t>
            </a:r>
          </a:p>
          <a:p>
            <a:r>
              <a:rPr lang="en-US" sz="2000">
                <a:latin typeface="Aptos" panose="020B0004020202020204" pitchFamily="34" charset="0"/>
              </a:rPr>
              <a:t>4) Observability and resilience.</a:t>
            </a:r>
          </a:p>
          <a:p>
            <a:r>
              <a:rPr lang="en-US" sz="2000">
                <a:latin typeface="Aptos" panose="020B0004020202020204" pitchFamily="34" charset="0"/>
              </a:rPr>
              <a:t>5) Coverage sweep + watch items.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CAB9A-AB15-E169-D831-8532470B2B8A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33CB0-EE24-C16C-129B-89DA8141A393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DED27A-C7BA-DF1A-9274-A641415F590F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C86D2-804E-9756-368D-5D097B7B0530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53BB-044F-7B66-887B-AB043F58F79C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58A85-90BE-5F9A-2688-7ED11B2D0CAF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3433A2-9F9B-4676-3B8A-66F2B4B7EFE8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1-3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C237310-CFCF-14E5-484C-F19AAD95DA0A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97458-F5F3-9CFA-A81B-15528F716BC1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4-6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881D4C1-FA2B-ABE1-7074-BE6D681EFDAA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C434F1-69B9-A92F-5FFA-C810C5CF48EE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7-8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A4E7349-B7EB-B067-D605-E4CA64032084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9D69B-D580-4EF3-AF82-4527A846F933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9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DE56FE2-6E7F-D081-2B44-F1E437872B33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995663-F35C-05C2-11EB-C6DA52BE58E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10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C6C14C8-25D0-0274-80B8-B03B14F0FA5C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0BDBF-6ECF-55AB-424A-1F26C864DD20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Action Plan</a:t>
            </a:r>
          </a:p>
        </p:txBody>
      </p:sp>
    </p:spTree>
    <p:extLst>
      <p:ext uri="{BB962C8B-B14F-4D97-AF65-F5344CB8AC3E}">
        <p14:creationId xmlns:p14="http://schemas.microsoft.com/office/powerpoint/2010/main" val="1019279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D992-3C76-FD44-A7A2-0FF1B5BE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Engineering Scorecard and Next Quarter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2B86F-924C-D7DF-B76F-AF4E0592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End with measurable outcomes and next actions.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Core KPIs: lead time, deploy frequency, change-failure rate, MTTR.</a:t>
            </a:r>
          </a:p>
          <a:p>
            <a:r>
              <a:rPr lang="en-US" sz="2000">
                <a:latin typeface="Aptos" panose="020B0004020202020204" pitchFamily="34" charset="0"/>
              </a:rPr>
              <a:t>2) Test KPIs: pass trend, flaky trend, mean time to fix failures.</a:t>
            </a:r>
          </a:p>
          <a:p>
            <a:r>
              <a:rPr lang="en-US" sz="2000">
                <a:latin typeface="Aptos" panose="020B0004020202020204" pitchFamily="34" charset="0"/>
              </a:rPr>
              <a:t>3) Control KPIs: policy violations, alert precision, rollback speed.</a:t>
            </a:r>
          </a:p>
          <a:p>
            <a:r>
              <a:rPr lang="en-US" sz="2000">
                <a:latin typeface="Aptos" panose="020B0004020202020204" pitchFamily="34" charset="0"/>
              </a:rPr>
              <a:t>4) Next 90 days: top 3 hardening priorities.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3517D-0A93-D815-B092-D36E801AF769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09B41-8F49-806D-6A52-71130618B675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B92AA-E69C-605C-15FC-5825C1D74115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CD39D-23E4-8E92-2F53-7E72E2A4F01E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B864D-6C30-7620-8B42-0F86BF2E6B52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65685-610C-DF9A-D529-1C43A05757D2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E6EEF9-DC87-E024-3002-60E7FA0ECC46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CE661C1-7CBF-3611-5736-1DE5D08A2B90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A84ED-B590-A9B0-E061-63572B0C2B30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Compare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021FDC4-B9D7-4670-76D3-895241BB99F9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F6B036-8C97-155D-4082-F886DC04C6E9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Prioritize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ECFC5ED-8369-A417-E382-98BC26002F02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40AC90-D133-06B0-ABDB-5CA3A177C8D4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5CBD1D5-9428-268B-B28C-290B75326085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CFD59B-E1BF-9849-2FB8-91C363B1B56D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1825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Microsoft Office PowerPoint</Application>
  <PresentationFormat>On-screen Show (16:10)</PresentationFormat>
  <Paragraphs>283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From Idea to Edge Reliability</vt:lpstr>
      <vt:lpstr>The 5-Layer System Map</vt:lpstr>
      <vt:lpstr>Technical Environment: Build to Edge Execution</vt:lpstr>
      <vt:lpstr>Workforce and Runtime Ownership Model</vt:lpstr>
      <vt:lpstr>Agents, Skills, and Markdown Control Plane</vt:lpstr>
      <vt:lpstr>Automation Layer: Deterministic Delivery</vt:lpstr>
      <vt:lpstr>Control Layer: Prevent, Detect, Correct</vt:lpstr>
      <vt:lpstr>Testing Strategy: Confidence Pipeline</vt:lpstr>
      <vt:lpstr>Vitest Deep Dive: Core Quality Signal</vt:lpstr>
      <vt:lpstr>Vitest Failure Triage Playbook</vt:lpstr>
      <vt:lpstr>10-Round Engineering Completeness Review</vt:lpstr>
      <vt:lpstr>Engineering Scorecard and Next Quarter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Oostelaar</dc:creator>
  <cp:lastModifiedBy>Jens Oostelaar</cp:lastModifiedBy>
  <cp:revision>1</cp:revision>
  <dcterms:created xsi:type="dcterms:W3CDTF">2026-04-28T18:35:10Z</dcterms:created>
  <dcterms:modified xsi:type="dcterms:W3CDTF">2026-04-28T18:35:10Z</dcterms:modified>
</cp:coreProperties>
</file>
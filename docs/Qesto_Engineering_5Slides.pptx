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Reliability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7C3B2"/>
                </a:solidFill>
              </a:rPr>
              <a:t>Qesto Engineering Story  ·  End-to-End System Narrative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1572768" cy="347472"/>
          </a:xfrm>
          <a:prstGeom prst="rect">
            <a:avLst/>
          </a:prstGeom>
          <a:solidFill>
            <a:srgbClr val="0E7C7B">
              <a:alpha val="35000"/>
            </a:srgbClr>
          </a:solidFill>
          <a:ln w="6350">
            <a:solidFill>
              <a:srgbClr val="17C3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747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Technical Environment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31136" y="3474720"/>
            <a:ext cx="1572768" cy="347472"/>
          </a:xfrm>
          <a:prstGeom prst="rect">
            <a:avLst/>
          </a:prstGeom>
          <a:solidFill>
            <a:srgbClr val="0E7C7B">
              <a:alpha val="35000"/>
            </a:srgbClr>
          </a:solidFill>
          <a:ln w="6350">
            <a:solidFill>
              <a:srgbClr val="17C3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34747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Workforce &amp; Actors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13632" y="3474720"/>
            <a:ext cx="1572768" cy="347472"/>
          </a:xfrm>
          <a:prstGeom prst="rect">
            <a:avLst/>
          </a:prstGeom>
          <a:solidFill>
            <a:srgbClr val="0E7C7B">
              <a:alpha val="35000"/>
            </a:srgbClr>
          </a:solidFill>
          <a:ln w="6350">
            <a:solidFill>
              <a:srgbClr val="17C3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34747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Agents &amp; Skills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96128" y="3474720"/>
            <a:ext cx="1572768" cy="347472"/>
          </a:xfrm>
          <a:prstGeom prst="rect">
            <a:avLst/>
          </a:prstGeom>
          <a:solidFill>
            <a:srgbClr val="0E7C7B">
              <a:alpha val="35000"/>
            </a:srgbClr>
          </a:solidFill>
          <a:ln w="6350">
            <a:solidFill>
              <a:srgbClr val="17C3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34747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Automation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278624" y="3474720"/>
            <a:ext cx="1572768" cy="347472"/>
          </a:xfrm>
          <a:prstGeom prst="rect">
            <a:avLst/>
          </a:prstGeom>
          <a:solidFill>
            <a:srgbClr val="0E7C7B">
              <a:alpha val="35000"/>
            </a:srgbClr>
          </a:solidFill>
          <a:ln w="6350">
            <a:solidFill>
              <a:srgbClr val="17C3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34747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Controls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3B4"/>
                </a:solidFill>
              </a:rPr>
              <a:t>Five connected layers from code to production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502920"/>
            <a:ext cx="292608" cy="292608"/>
          </a:xfrm>
          <a:prstGeom prst="ellipse">
            <a:avLst/>
          </a:prstGeom>
          <a:solidFill>
            <a:srgbClr val="17C3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28432" y="502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C3B2"/>
                </a:solidFill>
              </a:rPr>
              <a:t>Idea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08976" y="795528"/>
            <a:ext cx="0" cy="45720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680960" y="1252728"/>
            <a:ext cx="292608" cy="292608"/>
          </a:xfrm>
          <a:prstGeom prst="ellipse">
            <a:avLst/>
          </a:prstGeom>
          <a:solidFill>
            <a:srgbClr val="17C3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1252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3B4"/>
                </a:solidFill>
              </a:rPr>
              <a:t>Code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08976" y="1545336"/>
            <a:ext cx="0" cy="45720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680960" y="2002536"/>
            <a:ext cx="292608" cy="292608"/>
          </a:xfrm>
          <a:prstGeom prst="ellipse">
            <a:avLst/>
          </a:prstGeom>
          <a:solidFill>
            <a:srgbClr val="17C3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2002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3B4"/>
                </a:solidFill>
              </a:rPr>
              <a:t>Verify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08976" y="2295144"/>
            <a:ext cx="0" cy="45720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680960" y="2752344"/>
            <a:ext cx="292608" cy="292608"/>
          </a:xfrm>
          <a:prstGeom prst="ellipse">
            <a:avLst/>
          </a:prstGeom>
          <a:solidFill>
            <a:srgbClr val="17C3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2752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3B4"/>
                </a:solidFill>
              </a:rPr>
              <a:t>Deploy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08976" y="3044952"/>
            <a:ext cx="0" cy="45720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680960" y="3502152"/>
            <a:ext cx="292608" cy="292608"/>
          </a:xfrm>
          <a:prstGeom prst="ellipse">
            <a:avLst/>
          </a:prstGeom>
          <a:solidFill>
            <a:srgbClr val="17C3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3502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3B4"/>
                </a:solidFill>
              </a:rPr>
              <a:t>Observe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08976" y="3794760"/>
            <a:ext cx="0" cy="457200"/>
          </a:xfrm>
          <a:prstGeom prst="line">
            <a:avLst/>
          </a:prstGeom>
          <a:noFill/>
          <a:ln w="12700">
            <a:solidFill>
              <a:srgbClr val="0E7C7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680960" y="4251960"/>
            <a:ext cx="292608" cy="292608"/>
          </a:xfrm>
          <a:prstGeom prst="ellipse">
            <a:avLst/>
          </a:prstGeom>
          <a:solidFill>
            <a:srgbClr val="17C3B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42519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3B4"/>
                </a:solidFill>
              </a:rPr>
              <a:t>Improve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5-Layer System 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D7E"/>
                </a:solidFill>
              </a:rPr>
              <a:t>From environment to control — every layer owns a clear surface and connects to the next.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54864" cy="667512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5448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45389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Technical Environment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190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Cursor IDE → GitHub PR → Cloudflare Pages/Functions → Edge Runtime → Telemetry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112264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112264"/>
            <a:ext cx="54864" cy="667512"/>
          </a:xfrm>
          <a:prstGeom prst="rect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76856"/>
            <a:ext cx="329184" cy="329184"/>
          </a:xfrm>
          <a:prstGeom prst="ellipse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1762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Workforce &amp; Runtime Actors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44144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Human owners (Product, Eng, Reviewer, SecOps, DevOps) + Machine actors (CI runners, Durable Objects, Edge Workers)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34640"/>
            <a:ext cx="54864" cy="667512"/>
          </a:xfrm>
          <a:prstGeom prst="rect">
            <a:avLst/>
          </a:prstGeom>
          <a:solidFill>
            <a:srgbClr val="0D5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999232"/>
            <a:ext cx="329184" cy="329184"/>
          </a:xfrm>
          <a:prstGeom prst="ellipse">
            <a:avLst/>
          </a:prstGeom>
          <a:solidFill>
            <a:srgbClr val="0D5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89864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Agents, Skills &amp; Markdown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16382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Main agent + specialist subagents · Skill packs as reusable playbooks · Markdown as policy interface · Human holds merge authority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557016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557016"/>
            <a:ext cx="54864" cy="667512"/>
          </a:xfrm>
          <a:prstGeom prst="rect">
            <a:avLst/>
          </a:prstGeom>
          <a:solidFill>
            <a:srgbClr val="116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721608"/>
            <a:ext cx="329184" cy="329184"/>
          </a:xfrm>
          <a:prstGeom prst="ellipse">
            <a:avLst/>
          </a:prstGeom>
          <a:solidFill>
            <a:srgbClr val="116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62102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Automation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8862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Triggers: PR / push / scheduled · Gates: lint, types, tests, coverage, scans · Artifacts: logs &amp; trend evidence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279392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4279392"/>
            <a:ext cx="54864" cy="667512"/>
          </a:xfrm>
          <a:prstGeom prst="rect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443984"/>
            <a:ext cx="329184" cy="329184"/>
          </a:xfrm>
          <a:prstGeom prst="ellipse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43434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Control Layer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460857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Preventive (RBAC, branch protection) · Detective (scans, metrics, alerts) · Corrective (rollback, hotfix, postmortem)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ENVIRONMENT &amp; OWNERSHIP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Path &amp; Accountability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7C7B"/>
                </a:solidFill>
              </a:rPr>
              <a:t>TECHNICAL ENVIRONMENT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554480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389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Local Dev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6367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Cursor + AI-assisted implementation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src/*, functions/api/*, worker/*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7512" y="2075688"/>
            <a:ext cx="0" cy="118872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9456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" y="2423160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2585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Pull Request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50545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PR checks, review context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POST /repos/.../pulls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7512" y="2944368"/>
            <a:ext cx="0" cy="118872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06324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" y="3291840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127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Cloudflare Deploy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3741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Pages, Functions, D1/KV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Edge-first deployment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7512" y="3813048"/>
            <a:ext cx="0" cy="118872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93192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" y="4160520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9959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Edge Runtime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2428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Durable Objects, real-time sessions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Observability feedback loop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10241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7C7B"/>
                </a:solidFill>
              </a:rPr>
              <a:t>WORKFORCE &amp; OWNERSHIP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1353312"/>
            <a:ext cx="54864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353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Backlog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394960" y="1517904"/>
            <a:ext cx="73152" cy="0"/>
          </a:xfrm>
          <a:prstGeom prst="line">
            <a:avLst/>
          </a:prstGeom>
          <a:noFill/>
          <a:ln w="25400">
            <a:solidFill>
              <a:srgbClr val="17C3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68112" y="1353312"/>
            <a:ext cx="54864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68112" y="1353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Assign Owner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016752" y="1517904"/>
            <a:ext cx="73152" cy="0"/>
          </a:xfrm>
          <a:prstGeom prst="line">
            <a:avLst/>
          </a:prstGeom>
          <a:noFill/>
          <a:ln w="25400">
            <a:solidFill>
              <a:srgbClr val="17C3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9904" y="1353312"/>
            <a:ext cx="548640" cy="329184"/>
          </a:xfrm>
          <a:prstGeom prst="rect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9904" y="1353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Implement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638544" y="1517904"/>
            <a:ext cx="73152" cy="0"/>
          </a:xfrm>
          <a:prstGeom prst="line">
            <a:avLst/>
          </a:prstGeom>
          <a:noFill/>
          <a:ln w="25400">
            <a:solidFill>
              <a:srgbClr val="17C3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11696" y="1353312"/>
            <a:ext cx="548640" cy="329184"/>
          </a:xfrm>
          <a:prstGeom prst="rect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1696" y="1353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Review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7260336" y="1517904"/>
            <a:ext cx="73152" cy="0"/>
          </a:xfrm>
          <a:prstGeom prst="line">
            <a:avLst/>
          </a:prstGeom>
          <a:noFill/>
          <a:ln w="25400">
            <a:solidFill>
              <a:srgbClr val="17C3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33488" y="1353312"/>
            <a:ext cx="548640" cy="329184"/>
          </a:xfrm>
          <a:prstGeom prst="rect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3488" y="1353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Release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882128" y="1517904"/>
            <a:ext cx="73152" cy="0"/>
          </a:xfrm>
          <a:prstGeom prst="line">
            <a:avLst/>
          </a:prstGeom>
          <a:noFill/>
          <a:ln w="25400">
            <a:solidFill>
              <a:srgbClr val="17C3B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1353312"/>
            <a:ext cx="548640" cy="329184"/>
          </a:xfrm>
          <a:prstGeom prst="rect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1353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On-call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846320" y="18105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Human Owners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2103120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2103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Product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72200" y="2103120"/>
            <a:ext cx="201168" cy="201168"/>
          </a:xfrm>
          <a:prstGeom prst="ellipse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2103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Engineer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98080" y="2103120"/>
            <a:ext cx="201168" cy="201168"/>
          </a:xfrm>
          <a:prstGeom prst="ellipse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4112" y="2103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Reviewer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2468880"/>
            <a:ext cx="201168" cy="201168"/>
          </a:xfrm>
          <a:prstGeom prst="ellipse">
            <a:avLst/>
          </a:prstGeom>
          <a:solidFill>
            <a:srgbClr val="116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02352" y="2468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Security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72200" y="2468880"/>
            <a:ext cx="201168" cy="201168"/>
          </a:xfrm>
          <a:prstGeom prst="ellipse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28232" y="2468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DevOps / On-call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29077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Machine Actors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46320" y="3200400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846320" y="3200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CI Runners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66560" y="3200400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766560" y="3200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Edge Workers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46320" y="3547872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846320" y="3547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Durable Objects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66560" y="3547872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766560" y="3547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Scanners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828032"/>
            <a:ext cx="8321040" cy="0"/>
          </a:xfrm>
          <a:prstGeom prst="line">
            <a:avLst/>
          </a:prstGeom>
          <a:noFill/>
          <a:ln w="6350">
            <a:solidFill>
              <a:srgbClr val="0E7C7B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7D7E"/>
                </a:solidFill>
              </a:rPr>
              <a:t>↺  Observability feedback loops back into implementation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AUTOMATION &amp; CONTROL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Automation · Controls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24128"/>
            <a:ext cx="2743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7B"/>
                </a:solidFill>
              </a:rPr>
              <a:t>AGENTS &amp; SKILLS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Main 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Receives scoped objective &amp; constraints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214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Subagents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377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Domain-specialist delegation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779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Skill Packs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035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Reusable operating playbooks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438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Markdown 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694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Durable, version-controlled governance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142232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096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Human 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4352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Merge authority stays with humans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37560" y="1024128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1024128"/>
            <a:ext cx="2743200" cy="54864"/>
          </a:xfrm>
          <a:prstGeom prst="rect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6E6D"/>
                </a:solidFill>
              </a:rPr>
              <a:t>AUTOMATION PIPELINE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20440" y="1463040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D0F4F1"/>
          </a:solidFill>
          <a:ln w="6350">
            <a:solidFill>
              <a:srgbClr val="C0E0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1463040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22192" y="1499616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Trigger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22192" y="171907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D7E"/>
                </a:solidFill>
              </a:rPr>
              <a:t>PR / push / scheduled job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1975104"/>
            <a:ext cx="0" cy="219456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0440" y="2194560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D0F4F1"/>
          </a:solidFill>
          <a:ln w="6350">
            <a:solidFill>
              <a:srgbClr val="C0E0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2194560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22192" y="2231136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Quality Gates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22192" y="245059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D7E"/>
                </a:solidFill>
              </a:rPr>
              <a:t>Lint · Types · Tests · Coverage · Scans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2706624"/>
            <a:ext cx="0" cy="219456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0440" y="2926080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D0F4F1"/>
          </a:solidFill>
          <a:ln w="6350">
            <a:solidFill>
              <a:srgbClr val="C0E0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2926080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22192" y="2962656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Gate Decision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22192" y="318211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D7E"/>
                </a:solidFill>
              </a:rPr>
              <a:t>Pass → promote  |  Fail → block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3438144"/>
            <a:ext cx="0" cy="219456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3657600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D0F4F1"/>
          </a:solidFill>
          <a:ln w="6350">
            <a:solidFill>
              <a:srgbClr val="C0E0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3657600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22192" y="3694176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Promotion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22192" y="39136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D7E"/>
                </a:solidFill>
              </a:rPr>
              <a:t>Merge + controlled edge rollout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1024128"/>
            <a:ext cx="24688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1024128"/>
            <a:ext cx="2468880" cy="54864"/>
          </a:xfrm>
          <a:prstGeom prst="rect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1115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5252"/>
                </a:solidFill>
              </a:rPr>
              <a:t>CONTROL LAYER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55080" y="1463040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EA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1463040"/>
            <a:ext cx="54864" cy="914400"/>
          </a:xfrm>
          <a:prstGeom prst="rect">
            <a:avLst/>
          </a:prstGeom>
          <a:solidFill>
            <a:srgbClr val="0D5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15179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Prevent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55664" y="17739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RBAC &amp; branch protection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455664" y="195681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Secrets hygiene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55664" y="213969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Policy enforcement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55080" y="2633472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EA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5080" y="2633472"/>
            <a:ext cx="54864" cy="914400"/>
          </a:xfrm>
          <a:prstGeom prst="rect">
            <a:avLst/>
          </a:prstGeom>
          <a:solidFill>
            <a:srgbClr val="116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5664" y="268833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Detect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55664" y="29443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Scans &amp; metrics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55664" y="31272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Audit trail &amp; alerts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455664" y="33101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Drift detection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55080" y="3767328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EA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55080" y="3767328"/>
            <a:ext cx="54864" cy="914400"/>
          </a:xfrm>
          <a:prstGeom prst="rect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55664" y="38221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Correct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55664" y="40782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Rollback &amp; hotfix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55664" y="42611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Incident postmortem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455664" y="444398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· Runbook updates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TESTING &amp; SCORECARD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Pipeline &amp; Engineering KPIs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7C7B"/>
                </a:solidFill>
              </a:rPr>
              <a:t>TESTING CONFIDENCE PIPELINE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1554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155448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26464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1426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Static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Lint · Types · Format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84832" y="1298448"/>
            <a:ext cx="1554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4832" y="1298448"/>
            <a:ext cx="1554480" cy="73152"/>
          </a:xfrm>
          <a:prstGeom prst="rect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6272" y="1426464"/>
            <a:ext cx="237744" cy="237744"/>
          </a:xfrm>
          <a:prstGeom prst="ellipse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1426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Unit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76272" y="173736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Fast module confidence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Vitest core signal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39312" y="1737360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58184" y="1298448"/>
            <a:ext cx="1554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1298448"/>
            <a:ext cx="1554480" cy="73152"/>
          </a:xfrm>
          <a:prstGeom prst="rect">
            <a:avLst/>
          </a:prstGeom>
          <a:solidFill>
            <a:srgbClr val="0D5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9624" y="1426464"/>
            <a:ext cx="237744" cy="237744"/>
          </a:xfrm>
          <a:prstGeom prst="ellipse">
            <a:avLst/>
          </a:prstGeom>
          <a:solidFill>
            <a:srgbClr val="0D5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9624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42232" y="1426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9624" y="173736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Cross-boundary behavior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12664" y="1737360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31536" y="1298448"/>
            <a:ext cx="1554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31536" y="1298448"/>
            <a:ext cx="1554480" cy="73152"/>
          </a:xfrm>
          <a:prstGeom prst="rect">
            <a:avLst/>
          </a:prstGeom>
          <a:solidFill>
            <a:srgbClr val="116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22976" y="1426464"/>
            <a:ext cx="237744" cy="237744"/>
          </a:xfrm>
          <a:prstGeom prst="ellipse">
            <a:avLst/>
          </a:prstGeom>
          <a:solidFill>
            <a:srgbClr val="116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22976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15584" y="1426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22976" y="173736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Flaky detection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&amp; quarantine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86016" y="1737360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04888" y="1298448"/>
            <a:ext cx="1554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04888" y="1298448"/>
            <a:ext cx="1554480" cy="73152"/>
          </a:xfrm>
          <a:prstGeom prst="rect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96328" y="1426464"/>
            <a:ext cx="237744" cy="237744"/>
          </a:xfrm>
          <a:prstGeom prst="ellipse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6328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88936" y="1426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Runtime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96328" y="173736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Post-merge validation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7D7E"/>
                </a:solidFill>
              </a:rPr>
              <a:t>Observability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" y="269748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7C7B"/>
                </a:solidFill>
              </a:rPr>
              <a:t>ENGINEERING SCORECARD — KEY METRICS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2999232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1480" y="2999232"/>
            <a:ext cx="201168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090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Delivery KPIs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3438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Lead time to deploy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37856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Deploy frequency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1330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Change-failure 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4480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MTTR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14600" y="2999232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14600" y="2999232"/>
            <a:ext cx="2011680" cy="54864"/>
          </a:xfrm>
          <a:prstGeom prst="rect">
            <a:avLst/>
          </a:prstGeom>
          <a:solidFill>
            <a:srgbClr val="0A6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3090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KPIs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606040" y="3438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E6D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Pass rate trend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606040" y="37856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E6D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Flaky test rate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606040" y="41330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E6D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Mean time to fix failures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2999232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2999232"/>
            <a:ext cx="2011680" cy="54864"/>
          </a:xfrm>
          <a:prstGeom prst="rect">
            <a:avLst/>
          </a:prstGeom>
          <a:solidFill>
            <a:srgbClr val="14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090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Control KPIs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09160" y="3438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252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Policy violations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09160" y="37856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252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Alert precision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09160" y="41330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252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Rollback speed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720840" y="2999232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720840" y="2999232"/>
            <a:ext cx="2011680" cy="54864"/>
          </a:xfrm>
          <a:prstGeom prst="rect">
            <a:avLst/>
          </a:prstGeom>
          <a:solidFill>
            <a:srgbClr val="0D5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12280" y="3090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Next 90 Days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12280" y="3438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5E5D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Harden observability loop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812280" y="37856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5E5D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Reduce flaky test count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12280" y="41330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5E5D"/>
                </a:solidFill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5E7D7E"/>
                </a:solidFill>
              </a:rPr>
              <a:t>Postmortem-to-policy automation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B3B4"/>
                </a:solidFill>
              </a:rPr>
              <a:t>Vitest drives merge &amp; release decisions · Incidents become permanent regression tests · Postmortems harden policy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Qesto Engineering - From Idea to Edge Reliability</dc:title>
  <dc:subject>PptxGenJS Presentation</dc:subject>
  <dc:creator>PptxGenJS</dc:creator>
  <cp:lastModifiedBy>PptxGenJS</cp:lastModifiedBy>
  <cp:revision>1</cp:revision>
  <dcterms:created xsi:type="dcterms:W3CDTF">2026-04-29T13:04:28Z</dcterms:created>
  <dcterms:modified xsi:type="dcterms:W3CDTF">2026-04-29T13:04:28Z</dcterms:modified>
</cp:coreProperties>
</file>
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715000" type="screen16x10"/>
  <p:notesSz cx="6858000" cy="9144000"/>
  <p:defaultTextStyle>
    <a:defPPr>
      <a:defRPr lang="nl-NL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A08033-5924-4DB5-AB30-A449F408676E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35192-06FF-4F34-9F93-1E7DA2AA27F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4734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This is not a platform tour; it is the operating system behind consistent releases.</a:t>
            </a:r>
          </a:p>
          <a:p>
            <a:r>
              <a:rPr lang="en-US" sz="1400">
                <a:latin typeface="Aptos" panose="020B0004020202020204" pitchFamily="34" charset="0"/>
              </a:rPr>
              <a:t>- Every feature must pass through five layers before we trust it in production.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Where does reliability usually break first in your team: code quality, process handoff, or operational control?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35192-06FF-4F34-9F93-1E7DA2AA27F9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4963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Each upper layer fails if lower layers are weak.</a:t>
            </a:r>
          </a:p>
          <a:p>
            <a:r>
              <a:rPr lang="en-US" sz="1400">
                <a:latin typeface="Aptos" panose="020B0004020202020204" pitchFamily="34" charset="0"/>
              </a:rPr>
              <a:t>- Velocity comes from automation; safety comes from controls.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Which layer is usually missing in architecture presentations at your company?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35192-06FF-4F34-9F93-1E7DA2AA27F9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24640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Typed boundaries prevent contract drift.</a:t>
            </a:r>
          </a:p>
          <a:p>
            <a:r>
              <a:rPr lang="en-US" sz="1400">
                <a:latin typeface="Aptos" panose="020B0004020202020204" pitchFamily="34" charset="0"/>
              </a:rPr>
              <a:t>- PR checks validate correctness before merge.</a:t>
            </a:r>
          </a:p>
          <a:p>
            <a:r>
              <a:rPr lang="en-US" sz="1400">
                <a:latin typeface="Aptos" panose="020B0004020202020204" pitchFamily="34" charset="0"/>
              </a:rPr>
              <a:t>- Telemetry closes the loop and informs hardening.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Do you treat observability as the end of delivery, or part of development?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35192-06FF-4F34-9F93-1E7DA2AA27F9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6584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Tooling does not remove ownership; it sharpens it.</a:t>
            </a:r>
          </a:p>
          <a:p>
            <a:r>
              <a:rPr lang="en-US" sz="1400">
                <a:latin typeface="Aptos" panose="020B0004020202020204" pitchFamily="34" charset="0"/>
              </a:rPr>
              <a:t>- No unlabeled handoffs.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Where do handoffs currently lose context in your flow?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35192-06FF-4F34-9F93-1E7DA2AA27F9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7220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AI accelerates execution, markdown defines boundaries.</a:t>
            </a:r>
          </a:p>
          <a:p>
            <a:r>
              <a:rPr lang="en-US" sz="1400">
                <a:latin typeface="Aptos" panose="020B0004020202020204" pitchFamily="34" charset="0"/>
              </a:rPr>
              <a:t>- Specialist agents reduce context switching.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What guardrails must exist before AI-generated changes can merge?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35192-06FF-4F34-9F93-1E7DA2AA27F9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7008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Automation is only useful when deterministic.</a:t>
            </a:r>
          </a:p>
          <a:p>
            <a:r>
              <a:rPr lang="en-US" sz="1400">
                <a:latin typeface="Aptos" panose="020B0004020202020204" pitchFamily="34" charset="0"/>
              </a:rPr>
              <a:t>- Pipeline is a gatekeeper, not only a dashboard.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Are your CI signals decision-grade evidence or green/red noise?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35192-06FF-4F34-9F93-1E7DA2AA27F9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3357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Controls enable speed at scale.</a:t>
            </a:r>
          </a:p>
          <a:p>
            <a:r>
              <a:rPr lang="en-US" sz="1400">
                <a:latin typeface="Aptos" panose="020B0004020202020204" pitchFamily="34" charset="0"/>
              </a:rPr>
              <a:t>- Recovery speed is as important as prevention.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If a severe issue ships today, how quickly do you get reliable signal?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35192-06FF-4F34-9F93-1E7DA2AA27F9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96510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Fast tests protect developer flow.</a:t>
            </a:r>
          </a:p>
          <a:p>
            <a:r>
              <a:rPr lang="en-US" sz="1400">
                <a:latin typeface="Aptos" panose="020B0004020202020204" pitchFamily="34" charset="0"/>
              </a:rPr>
              <a:t>- Deep tests protect release integrity.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Which stage currently adds most false confidence in your pipeline?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35192-06FF-4F34-9F93-1E7DA2AA27F9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1755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Vitest is a decision system, not only a test runner.</a:t>
            </a:r>
          </a:p>
          <a:p>
            <a:r>
              <a:rPr lang="en-US" sz="1400">
                <a:latin typeface="Aptos" panose="020B0004020202020204" pitchFamily="34" charset="0"/>
              </a:rPr>
              <a:t>- Optimize for fast local feedback + deterministic CI.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What share of failing tests are actionable regressions vs unstable behavior?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35192-06FF-4F34-9F93-1E7DA2AA27F9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19716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Failed tests without owners become organizational debt.</a:t>
            </a:r>
          </a:p>
          <a:p>
            <a:r>
              <a:rPr lang="en-US" sz="1400">
                <a:latin typeface="Aptos" panose="020B0004020202020204" pitchFamily="34" charset="0"/>
              </a:rPr>
              <a:t>- Resolution must improve future signal quality.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Who owns flaky test debt, and what SLA is applied?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35192-06FF-4F34-9F93-1E7DA2AA27F9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62977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Pass does not mean done; each round adds watch items.</a:t>
            </a:r>
          </a:p>
          <a:p>
            <a:r>
              <a:rPr lang="en-US" sz="1400">
                <a:latin typeface="Aptos" panose="020B0004020202020204" pitchFamily="34" charset="0"/>
              </a:rPr>
              <a:t>- Quarterly revalidation keeps design and reality aligned.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How often do you formally revalidate architecture using incident evidence?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35192-06FF-4F34-9F93-1E7DA2AA27F9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9811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Reliability becomes real when attached to metrics.</a:t>
            </a:r>
          </a:p>
          <a:p>
            <a:r>
              <a:rPr lang="en-US" sz="1400">
                <a:latin typeface="Aptos" panose="020B0004020202020204" pitchFamily="34" charset="0"/>
              </a:rPr>
              <a:t>- Next quarter focuses on reducing variability.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If you could improve one KPI next quarter, which most increases customer trust?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35192-06FF-4F34-9F93-1E7DA2AA27F9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77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0B26E-065E-CC7E-1BED-7013CE88D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F87BD-99C6-C412-EF04-CEFFA7988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EFB73-5AC2-9A0B-AD44-E66582B6E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F3CC5-EC66-42CC-A78F-DB422B978AA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5B0F0-6827-80F9-2735-E3AE1D58A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D41B8-AEFF-C7E3-1EF4-B99AA9B85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D64ED-3D49-41B7-8880-FC856D137C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42322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059AC-042F-F540-1A63-3B4B655BD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0543A-F678-0948-F3A7-59BC19653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555A5-B4A0-2E55-DA3D-F22EB5DF0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F3CC5-EC66-42CC-A78F-DB422B978AA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3EB24-5195-004D-9EAD-153717CCD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4398B-4AA6-F2B9-8140-5F451A2F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D64ED-3D49-41B7-8880-FC856D137C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9809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0735-D847-2E74-8C1A-9BD4EEB7B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E5C68-0195-D6CE-B3E6-CC880CA28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C3876-57B1-5AE5-8FBC-28B077123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F3CC5-EC66-42CC-A78F-DB422B978AA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2A6F3-E3FA-6F3C-27B6-2D128EBF4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D8661-7206-4249-2CFD-A82C6971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D64ED-3D49-41B7-8880-FC856D137C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476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2ECB-F25B-6B8A-AD7B-DD4478BE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E2C15-25FD-80FF-E345-7955D03F47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79B06-619F-ECDB-201C-E9DD1557D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D26C3-CA39-5D60-DB4E-D70FC1EA9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F3CC5-EC66-42CC-A78F-DB422B978AA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78AFF-4C49-0D03-AC6F-E439B5C3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12C93-93CB-44CF-D446-21ADEE4A5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D64ED-3D49-41B7-8880-FC856D137C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072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E9161-F2D7-4666-D01F-99CC36EEA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11639-775D-62DD-96D5-0EBB670F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4674E-7B21-424C-53CB-A3C94B2C8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CB754B-B6F4-9530-0D7E-78CDE21EC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F2AAA-D46D-A101-D16D-9B8B14B569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8BDB25-459C-F613-EE67-D1490355C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F3CC5-EC66-42CC-A78F-DB422B978AA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128B21-A48E-810F-DE67-F8391D51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753116-651B-BEA0-341D-82734646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D64ED-3D49-41B7-8880-FC856D137C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3653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CA2D6-4428-2A56-7F15-FA16AD29F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12E588-99ED-840D-B3F4-0EE71D182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F3CC5-EC66-42CC-A78F-DB422B978AA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73C6F-C135-1F30-71FB-C715C792A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042DF-0222-75FB-E7CF-7C11CF17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D64ED-3D49-41B7-8880-FC856D137C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004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431DB8-874D-4EA9-3C78-742FA5AE5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F3CC5-EC66-42CC-A78F-DB422B978AA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CA236-1FB5-2C1A-A931-4CF0F489A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7FC74-439E-F698-506C-CCEA8DC76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D64ED-3D49-41B7-8880-FC856D137C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9015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60D50-A3B7-C1E9-F577-B7107B9F5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A421A-FAC1-4E12-E93D-D757E848D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06A26-7652-410C-E26E-9E8E7DB0D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B88DB-57F8-D5DF-CF51-1CDD64996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F3CC5-EC66-42CC-A78F-DB422B978AA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039F7-7BF5-ECE9-5E40-B1D36B75A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04A59-A108-FFA9-D3F7-713A49B57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D64ED-3D49-41B7-8880-FC856D137C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2522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52BCB-3C51-25A9-1593-767B37824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77B985-2472-7D55-C88C-1DFEF14EC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5D785-CDF9-D9D2-4E14-481CF0739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4B10A-2FF1-28AF-D891-20E9A29A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F3CC5-EC66-42CC-A78F-DB422B978AA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C1823-FE6D-70F8-058E-76EA6D260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A5EBD-813B-B0BC-2029-7124E590F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D64ED-3D49-41B7-8880-FC856D137C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5662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37F3E-D0CF-1499-F1F1-AE64D2B12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2D53F2-D39E-3B42-B09B-659130AA9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73875-0376-1F5F-CB7B-F4FA995CF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F3CC5-EC66-42CC-A78F-DB422B978AA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463C5-162F-CB73-1FBC-65376EC3E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1800C-7044-ED97-7A9E-EEC57F0F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D64ED-3D49-41B7-8880-FC856D137C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897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31638A-4A2A-2653-1769-151CDB630D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EAD39-8E8A-344C-6D39-3230056FE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10654-18AD-534E-3949-AC2C81308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F3CC5-EC66-42CC-A78F-DB422B978AA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71126-B10D-5CCE-5AA5-10276CED4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C8BBC-5661-AA24-10D6-62FF0816C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D64ED-3D49-41B7-8880-FC856D137C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8572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0939-42B7-A46C-11EB-CF5D0BB6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4652E-DD6B-7CFC-8D7E-5E49D05A6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20ED7-C761-A776-500C-BA453A1DD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F3CC5-EC66-42CC-A78F-DB422B978AA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CA2B9-9896-01D6-309B-9735BC896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23034-C207-67A5-AADE-6AB402BA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D64ED-3D49-41B7-8880-FC856D137C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593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859523-2928-E322-2051-EDE0E4FAE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EF313-874E-6E50-84E9-B0392F788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F7B5B-5DCD-E930-61A2-8EDC33AE42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F3CC5-EC66-42CC-A78F-DB422B978AA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BD6FA-5A45-E960-A3EE-51844284B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F95D6-5080-2F67-32E9-27A8376D1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D64ED-3D49-41B7-8880-FC856D137C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452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EC19B-3CB0-093E-DF24-DD5F9C770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1117600"/>
            <a:ext cx="14605000" cy="1989667"/>
          </a:xfrm>
        </p:spPr>
        <p:txBody>
          <a:bodyPr>
            <a:normAutofit/>
          </a:bodyPr>
          <a:lstStyle/>
          <a:p>
            <a:r>
              <a:rPr lang="en-US" sz="4200" b="1">
                <a:latin typeface="Aptos Display" panose="020B0004020202020204" pitchFamily="34" charset="0"/>
              </a:rPr>
              <a:t>From Idea to Edge Reliability</a:t>
            </a:r>
            <a:endParaRPr lang="nl-NL" sz="4200" b="1">
              <a:latin typeface="Aptos Display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870D0B-FD20-ACF1-7055-A374E4CBA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200" y="2667000"/>
            <a:ext cx="14351000" cy="1379802"/>
          </a:xfrm>
        </p:spPr>
        <p:txBody>
          <a:bodyPr>
            <a:noAutofit/>
          </a:bodyPr>
          <a:lstStyle/>
          <a:p>
            <a:r>
              <a:rPr lang="en-US" sz="1900">
                <a:latin typeface="Aptos" panose="020B0004020202020204" pitchFamily="34" charset="0"/>
              </a:rPr>
              <a:t>Goal: Frame reliability as an end-to-end engineering system.</a:t>
            </a:r>
          </a:p>
          <a:p>
            <a:endParaRPr lang="en-US" sz="1900">
              <a:latin typeface="Aptos" panose="020B0004020202020204" pitchFamily="34" charset="0"/>
            </a:endParaRPr>
          </a:p>
          <a:p>
            <a:r>
              <a:rPr lang="en-US" sz="19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1900">
                <a:latin typeface="Aptos" panose="020B0004020202020204" pitchFamily="34" charset="0"/>
              </a:rPr>
              <a:t>1) Product promise: real-time sessions with low latency.</a:t>
            </a:r>
          </a:p>
          <a:p>
            <a:r>
              <a:rPr lang="en-US" sz="1900">
                <a:latin typeface="Aptos" panose="020B0004020202020204" pitchFamily="34" charset="0"/>
              </a:rPr>
              <a:t>2) Engineering challenge: multi-tenant, secure, edge-first.</a:t>
            </a:r>
          </a:p>
          <a:p>
            <a:r>
              <a:rPr lang="en-US" sz="1900">
                <a:latin typeface="Aptos" panose="020B0004020202020204" pitchFamily="34" charset="0"/>
              </a:rPr>
              <a:t>3) Answer: five connected layers.</a:t>
            </a:r>
            <a:endParaRPr lang="nl-NL" sz="19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1DE0FE-AA58-AE5E-169A-ABFAA893706D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A6E35D-C064-BF93-9A58-EA03E77AA3D2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System Narrative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57EF34-4C20-F140-D6CC-D7561EEE6214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02756-EFDC-D328-554F-00F17920D6E8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64620B-3BB0-5D25-3B52-CF87E2D09649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9E21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CAA6DC-D190-7D70-56EE-5C8FB4CACC97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9E2113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7BFFF7-CB0E-0FC4-E89D-3E1C57BD705F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Idea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38130F6-D31A-E2D6-15DB-E1449A422269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4C1B91-689D-358B-88FE-57DA4402726C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Code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CB7AC6D-E3D6-EA6B-F35A-F0848C447B84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49AC7D-A37D-961C-DF64-BE3C8F7022F7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Verify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F4ACB5A-3252-4A53-CF57-5C7872BAF6CF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31FC81-608F-35C3-5BD4-9C28A171B51E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Deploy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CE21493-EF2D-8196-5F7F-CC4CC75BE05A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5F9F00-A902-8933-350A-54C983B1DB1F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Observe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B7AACE6-11D8-C254-1E51-850644C57158}"/>
              </a:ext>
            </a:extLst>
          </p:cNvPr>
          <p:cNvSpPr/>
          <p:nvPr/>
        </p:nvSpPr>
        <p:spPr>
          <a:xfrm>
            <a:off x="135128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B630BF-279D-9478-3110-8DC7970759AF}"/>
              </a:ext>
            </a:extLst>
          </p:cNvPr>
          <p:cNvSpPr/>
          <p:nvPr/>
        </p:nvSpPr>
        <p:spPr>
          <a:xfrm>
            <a:off x="137922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Improve</a:t>
            </a:r>
          </a:p>
        </p:txBody>
      </p:sp>
    </p:spTree>
    <p:extLst>
      <p:ext uri="{BB962C8B-B14F-4D97-AF65-F5344CB8AC3E}">
        <p14:creationId xmlns:p14="http://schemas.microsoft.com/office/powerpoint/2010/main" val="981569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7E8C8-E491-3F81-A243-643609378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The 5-Layer System 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6B1C8-0A9D-E82C-E1EB-5B84AB218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Introduce architecture and delivery in one visual.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Technical Environment</a:t>
            </a:r>
          </a:p>
          <a:p>
            <a:r>
              <a:rPr lang="en-US" sz="2000">
                <a:latin typeface="Aptos" panose="020B0004020202020204" pitchFamily="34" charset="0"/>
              </a:rPr>
              <a:t>2) Workforce and Runtime Actors</a:t>
            </a:r>
          </a:p>
          <a:p>
            <a:r>
              <a:rPr lang="en-US" sz="2000">
                <a:latin typeface="Aptos" panose="020B0004020202020204" pitchFamily="34" charset="0"/>
              </a:rPr>
              <a:t>3) Agents, Skills, Markdown</a:t>
            </a:r>
          </a:p>
          <a:p>
            <a:r>
              <a:rPr lang="en-US" sz="2000">
                <a:latin typeface="Aptos" panose="020B0004020202020204" pitchFamily="34" charset="0"/>
              </a:rPr>
              <a:t>4) Automation Layer</a:t>
            </a:r>
          </a:p>
          <a:p>
            <a:r>
              <a:rPr lang="en-US" sz="2000">
                <a:latin typeface="Aptos" panose="020B0004020202020204" pitchFamily="34" charset="0"/>
              </a:rPr>
              <a:t>5) Control Layer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DBE55A-26D4-2C0D-426B-21F4F763DC77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9FD16-4197-7A89-1653-1C24AB34BEC6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System Narrative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839DBF-2F8F-2968-86BB-5A1AF20ED6E3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E16C8-CD96-DFD0-EE52-61B6DA340FE9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BDD50D-EE70-6366-104F-7D266DF64BA2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9E21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A7C0DD-DA89-18F3-F5BD-D1D673F930FF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9E2113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983577-9DA8-F132-EC45-55AC10EC9A3B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Environment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66F17D7-68B9-8E49-6F2A-A4F79A13E17A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04E432-0E1B-AB83-26C0-000A4628E253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Workforce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F2DBC91-2B43-94F5-54E3-E1B8808173ED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9A6DAA-42FD-CE7F-E548-7B2ADA09EEFB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Agents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3D12AF6-F1A2-F440-077F-6461527D441D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5726A6-D761-1FEC-EE25-A7EC7309B7F2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Automation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93BC21F-185C-37CC-DBB9-A92099CA63E0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D8DE0D-7740-C0D3-5D63-776352A81F48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Control</a:t>
            </a:r>
          </a:p>
        </p:txBody>
      </p:sp>
    </p:spTree>
    <p:extLst>
      <p:ext uri="{BB962C8B-B14F-4D97-AF65-F5344CB8AC3E}">
        <p14:creationId xmlns:p14="http://schemas.microsoft.com/office/powerpoint/2010/main" val="2143505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48E7-97D0-B935-813F-BE9FB2A1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en-US" sz="3400" b="1">
                <a:latin typeface="Aptos Display" panose="020B0004020202020204" pitchFamily="34" charset="0"/>
              </a:rPr>
              <a:t>Technical Environment: Build to Edge Execution</a:t>
            </a:r>
            <a:endParaRPr lang="nl-NL" sz="3400" b="1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D845D-32B6-F607-4AAA-7A9F62F35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nl-NL" sz="2000">
                <a:latin typeface="Aptos" panose="020B0004020202020204" pitchFamily="34" charset="0"/>
              </a:rPr>
              <a:t>Goal: Show path from local code to runtime behavior.</a:t>
            </a:r>
          </a:p>
          <a:p>
            <a:endParaRPr lang="nl-NL" sz="2000">
              <a:latin typeface="Aptos" panose="020B0004020202020204" pitchFamily="34" charset="0"/>
            </a:endParaRPr>
          </a:p>
          <a:p>
            <a:r>
              <a:rPr lang="nl-NL" sz="2000">
                <a:latin typeface="Aptos" panose="020B0004020202020204" pitchFamily="34" charset="0"/>
              </a:rPr>
              <a:t>On-click reveals:</a:t>
            </a:r>
          </a:p>
          <a:p>
            <a:r>
              <a:rPr lang="nl-NL" sz="2000">
                <a:latin typeface="Aptos" panose="020B0004020202020204" pitchFamily="34" charset="0"/>
              </a:rPr>
              <a:t>1) Cursor + AI-assisted implementation.</a:t>
            </a:r>
          </a:p>
          <a:p>
            <a:r>
              <a:rPr lang="nl-NL" sz="2000">
                <a:latin typeface="Aptos" panose="020B0004020202020204" pitchFamily="34" charset="0"/>
              </a:rPr>
              <a:t>2) GitHub PR checks and review.</a:t>
            </a:r>
          </a:p>
          <a:p>
            <a:r>
              <a:rPr lang="nl-NL" sz="2000">
                <a:latin typeface="Aptos" panose="020B0004020202020204" pitchFamily="34" charset="0"/>
              </a:rPr>
              <a:t>3) Cloudflare Pages Functions + Durable Objects + D1/KV.</a:t>
            </a:r>
          </a:p>
          <a:p>
            <a:r>
              <a:rPr lang="nl-NL" sz="2000">
                <a:latin typeface="Aptos" panose="020B0004020202020204" pitchFamily="34" charset="0"/>
              </a:rPr>
              <a:t>4) Edge execution + observability feedback.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A70161-F994-CBB6-B569-F8B3D1CD82D5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DF888-8BF9-15B9-5A71-B9A3463B9C43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Environment &amp; Ownership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88A201-9DEB-F3D8-7535-7ADEA4DFFF13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E854B9-21C0-E8C1-B2BF-010EBF0D1EFC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A151EF-F337-DAE7-78B6-1C51D371D401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FF4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6832C-E7C0-2597-9A92-EB5B069D8E50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FF4C95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A3CFF9-134E-85EA-7C93-7DFBE6CC82D7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Local Dev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5AF063E-F7EC-5652-A33F-DC60C4394A1E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BB173C-9CAE-8772-08E7-7BDB436326AC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29008D0-C794-6446-5A3A-31AD7DB1E3C4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947658-AE0F-F75F-83C9-B373E0EA9703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CI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C51F66D-F8C6-5E22-8140-D60BA5D50663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447BD4-045B-ECC7-D4C3-D6F0B576FD16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Cloudflare Deploy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4F4D9E3-9819-A8DD-B2F2-18B6E562D962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1B659D-D3B6-6C4D-C4EF-BD207B55D2FF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Edge Runtime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659B5F2-96DF-1FC3-D286-3A1BA949DEF1}"/>
              </a:ext>
            </a:extLst>
          </p:cNvPr>
          <p:cNvSpPr/>
          <p:nvPr/>
        </p:nvSpPr>
        <p:spPr>
          <a:xfrm>
            <a:off x="135128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233963-8A8E-6C82-35E6-38317CF462A1}"/>
              </a:ext>
            </a:extLst>
          </p:cNvPr>
          <p:cNvSpPr/>
          <p:nvPr/>
        </p:nvSpPr>
        <p:spPr>
          <a:xfrm>
            <a:off x="137922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Telemetry</a:t>
            </a:r>
          </a:p>
        </p:txBody>
      </p:sp>
    </p:spTree>
    <p:extLst>
      <p:ext uri="{BB962C8B-B14F-4D97-AF65-F5344CB8AC3E}">
        <p14:creationId xmlns:p14="http://schemas.microsoft.com/office/powerpoint/2010/main" val="3268760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CC431-07FC-85BB-A39F-9E6479B7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en-US" sz="3400" b="1">
                <a:latin typeface="Aptos Display" panose="020B0004020202020204" pitchFamily="34" charset="0"/>
              </a:rPr>
              <a:t>Workforce and Runtime Ownership Model</a:t>
            </a:r>
            <a:endParaRPr lang="nl-NL" sz="3400" b="1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689B3-16C2-28F6-5894-C2433F8AC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Make accountability explicit across humans and machine actors.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Human owners: Product, Engineer, Reviewer, Security, DevOps/On-call.</a:t>
            </a:r>
          </a:p>
          <a:p>
            <a:r>
              <a:rPr lang="en-US" sz="2000">
                <a:latin typeface="Aptos" panose="020B0004020202020204" pitchFamily="34" charset="0"/>
              </a:rPr>
              <a:t>2) Machine actors: CI runners, edge workers, Durable Objects, scanners.</a:t>
            </a:r>
          </a:p>
          <a:p>
            <a:r>
              <a:rPr lang="en-US" sz="2000">
                <a:latin typeface="Aptos" panose="020B0004020202020204" pitchFamily="34" charset="0"/>
              </a:rPr>
              <a:t>3) Handoff chain: backlog -&gt; implementation -&gt; review -&gt; release -&gt; incident ownership.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89178D-B068-8FE6-5C4F-A907D35AEE4B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0274B8-C051-C0A2-E0AA-563AAFA21536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Environment &amp; Ownership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44E028-AA69-5096-39E3-D130643D2999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40B060-2F76-584E-004C-75E62C6DD787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86AF67-0329-1252-ABA1-ABC77A2C8F6D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FF4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3BF9A-03D1-67C8-35DC-A14D767329E8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FF4C95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DB7A8-A5B6-589E-B23D-A1EC2C6EA3DD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Backlog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C8DB125-1DB5-C699-17DA-076CE3F21755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D88C66-EEE8-87F4-1312-B44D3E6CD537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Owner Assigned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C126720-5096-16CF-DC69-346E78E9CF6F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DE4C4D-5EE1-81D6-5C9D-568900265234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Implement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EB4FBC4-71E2-EC20-C00C-461252D25802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0FE90C-C9E1-B27D-9E69-930E7386F79C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Review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111E30E-5553-A98C-AB90-EE96509E384A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D4FE1F-F67E-9874-59D0-429A15A178E2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Release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80D42A9-63A0-5736-1068-DDF21D349D2E}"/>
              </a:ext>
            </a:extLst>
          </p:cNvPr>
          <p:cNvSpPr/>
          <p:nvPr/>
        </p:nvSpPr>
        <p:spPr>
          <a:xfrm>
            <a:off x="135128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A57B8B-AA1A-56FC-BC2C-B4B4CA156E5A}"/>
              </a:ext>
            </a:extLst>
          </p:cNvPr>
          <p:cNvSpPr/>
          <p:nvPr/>
        </p:nvSpPr>
        <p:spPr>
          <a:xfrm>
            <a:off x="137922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On-call</a:t>
            </a:r>
          </a:p>
        </p:txBody>
      </p:sp>
    </p:spTree>
    <p:extLst>
      <p:ext uri="{BB962C8B-B14F-4D97-AF65-F5344CB8AC3E}">
        <p14:creationId xmlns:p14="http://schemas.microsoft.com/office/powerpoint/2010/main" val="1856277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442D-2DE7-F71F-988D-1589E952E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en-US" sz="3400" b="1">
                <a:latin typeface="Aptos Display" panose="020B0004020202020204" pitchFamily="34" charset="0"/>
              </a:rPr>
              <a:t>Agents, Skills, and Markdown Control Plane</a:t>
            </a:r>
            <a:endParaRPr lang="nl-NL" sz="3400" b="1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0D0D3-9871-6DAB-8D0A-655B65958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Show AI acceleration with governance boundaries.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Main agent vs specialist subagents.</a:t>
            </a:r>
          </a:p>
          <a:p>
            <a:r>
              <a:rPr lang="en-US" sz="2000">
                <a:latin typeface="Aptos" panose="020B0004020202020204" pitchFamily="34" charset="0"/>
              </a:rPr>
              <a:t>2) Skills as reusable operating playbooks.</a:t>
            </a:r>
          </a:p>
          <a:p>
            <a:r>
              <a:rPr lang="en-US" sz="2000">
                <a:latin typeface="Aptos" panose="020B0004020202020204" pitchFamily="34" charset="0"/>
              </a:rPr>
              <a:t>3) Markdown as durable policy interface.</a:t>
            </a:r>
          </a:p>
          <a:p>
            <a:r>
              <a:rPr lang="en-US" sz="2000">
                <a:latin typeface="Aptos" panose="020B0004020202020204" pitchFamily="34" charset="0"/>
              </a:rPr>
              <a:t>4) Human review remains merge authority.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2DF169-B106-A44E-AD06-176B5950053B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7ED2A6-326F-77A8-E787-96BCF93B7970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Automation &amp; Control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736256-9FBD-7CCB-F2BC-3BCCA27F6083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1D03AB-07E2-B8D6-BE5F-9EAC94DDDCC2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4A168C-0B25-D5A7-62DE-D4EF59A0A1C8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FF7F9-6531-63F6-EB1F-CED77DCF6C6F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245FA0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5A50C3-177F-3C67-E26A-491ACA125535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Task Intake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2F3125F-1717-FC96-1100-A3EF7454BDBF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56F4D6-03A7-8120-E942-4DC1BBC01A23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Agent Routing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4A45442-5499-9F27-30EE-1377368617E0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7FBC41-1FD7-EFED-16FE-14ED13D220CA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Skill Constraints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A5B8E23-F96D-FE07-A3D0-310161B73A2C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15FBEE-E087-B397-2C43-067ADC1C3BC8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Code/Docs Output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44BDE37-5E91-310C-D169-045DBE234874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A7AABD-2775-27A0-94A0-2E1394F143C0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3344783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B24F4-EC6B-50F4-E8AB-4A48626D4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Automation Layer: Deterministic Delivery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F0012-C3E6-894E-A9B8-12160D716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Explain how automation creates speed with trust.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Triggers: PR, push, scheduled jobs.</a:t>
            </a:r>
          </a:p>
          <a:p>
            <a:r>
              <a:rPr lang="en-US" sz="2000">
                <a:latin typeface="Aptos" panose="020B0004020202020204" pitchFamily="34" charset="0"/>
              </a:rPr>
              <a:t>2) Checks: lint, type-check, tests, coverage, drift, security.</a:t>
            </a:r>
          </a:p>
          <a:p>
            <a:r>
              <a:rPr lang="en-US" sz="2000">
                <a:latin typeface="Aptos" panose="020B0004020202020204" pitchFamily="34" charset="0"/>
              </a:rPr>
              <a:t>3) Gates: pass/fail promotion behavior.</a:t>
            </a:r>
          </a:p>
          <a:p>
            <a:r>
              <a:rPr lang="en-US" sz="2000">
                <a:latin typeface="Aptos" panose="020B0004020202020204" pitchFamily="34" charset="0"/>
              </a:rPr>
              <a:t>4) Artifacts: logs and trend evidence.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F879FC-AC03-CB7F-D8CB-1808D376F26E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4365D7-2DD3-A9D1-F76B-CE3E8FB544E5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Automation &amp; Control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C480F3-62DD-971B-1E8E-B970BD94E79D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67F881-7718-E8D0-0BBB-5707B8C1DECA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B6108B-B8A0-8A67-204C-EC6ECEF5E389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7C657-C648-A393-47D6-36BB0AD3D94C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245FA0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5E9492-4401-077A-769C-95E9C67C5F95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Trigger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FA0C8F9-9774-1FF3-3CFC-D90AFF6CAD78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2C853E-6E7E-79C7-516C-4D15A1A7CA5C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Checks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4B9016A-E355-4860-B47F-962949B55DBC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279344-9AC5-6490-CD89-B9B9C4DF5D62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Artifacts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4FD287A-FD09-9165-83CD-42C212C41FF5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078B82-3203-BCC1-EA34-F749AB64DCCF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Gate Decision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C0BE522-59F2-93E8-40AE-061B53E8952A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B1C165-E0FB-D54A-58E2-6FA128A11CFA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Promote/Block</a:t>
            </a:r>
          </a:p>
        </p:txBody>
      </p:sp>
    </p:spTree>
    <p:extLst>
      <p:ext uri="{BB962C8B-B14F-4D97-AF65-F5344CB8AC3E}">
        <p14:creationId xmlns:p14="http://schemas.microsoft.com/office/powerpoint/2010/main" val="3531957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B8ED-9911-B4B6-E012-94009401F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en-US" sz="3400" b="1">
                <a:latin typeface="Aptos Display" panose="020B0004020202020204" pitchFamily="34" charset="0"/>
              </a:rPr>
              <a:t>Control Layer: Prevent, Detect, Correct</a:t>
            </a:r>
            <a:endParaRPr lang="nl-NL" sz="3400" b="1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107ED-02BC-6455-7112-6F5E95E00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nl-NL" sz="2000">
                <a:latin typeface="Aptos" panose="020B0004020202020204" pitchFamily="34" charset="0"/>
              </a:rPr>
              <a:t>Goal: Position controls as engineering enablers.</a:t>
            </a:r>
          </a:p>
          <a:p>
            <a:endParaRPr lang="nl-NL" sz="2000">
              <a:latin typeface="Aptos" panose="020B0004020202020204" pitchFamily="34" charset="0"/>
            </a:endParaRPr>
          </a:p>
          <a:p>
            <a:r>
              <a:rPr lang="nl-NL" sz="2000">
                <a:latin typeface="Aptos" panose="020B0004020202020204" pitchFamily="34" charset="0"/>
              </a:rPr>
              <a:t>On-click reveals:</a:t>
            </a:r>
          </a:p>
          <a:p>
            <a:r>
              <a:rPr lang="nl-NL" sz="2000">
                <a:latin typeface="Aptos" panose="020B0004020202020204" pitchFamily="34" charset="0"/>
              </a:rPr>
              <a:t>1) Preventive: RBAC, branch protections, secrets hygiene.</a:t>
            </a:r>
          </a:p>
          <a:p>
            <a:r>
              <a:rPr lang="nl-NL" sz="2000">
                <a:latin typeface="Aptos" panose="020B0004020202020204" pitchFamily="34" charset="0"/>
              </a:rPr>
              <a:t>2) Detective: scans, metrics, alerts, audit trail.</a:t>
            </a:r>
          </a:p>
          <a:p>
            <a:r>
              <a:rPr lang="nl-NL" sz="2000">
                <a:latin typeface="Aptos" panose="020B0004020202020204" pitchFamily="34" charset="0"/>
              </a:rPr>
              <a:t>3) Corrective: rollback, hotfix, postmortem hardening.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BD1D68-DE58-ADBC-3221-23C63A420983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380710-4FE6-55B4-8223-44C273F43530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Automation &amp; Control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86DB70-AC65-FF35-C37E-2D5DD733542B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188E69-2ED3-68B0-9779-7CFCA541F1BB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AD4FE1-E430-BA2C-5A00-7C533095CDFB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ABA4FF-EC6A-6EC9-1636-CB72CC77EDE0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245FA0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D20767-5F93-9DFE-3E83-4A99618EAE4A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Prevent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1E767DD-EDE0-37E9-0720-9056D22561A3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49EF03-76C5-5C63-DAA6-40DDC2DE9175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Detect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D978759-0E8E-E71B-3B1C-4A19E760D7A8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FB9A4E-3107-5D4A-A6E9-9210EBB56B2A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Respond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0BE3B95-C0B4-4CB2-52E4-03B0CF662C20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3A7110-4A89-F792-91D5-1500BD5088F4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Recover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DFD5907-6646-C933-F591-24752A9C7F62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7448E0-69EC-676F-C991-EC35A5E7F3B0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Harden</a:t>
            </a:r>
          </a:p>
        </p:txBody>
      </p:sp>
    </p:spTree>
    <p:extLst>
      <p:ext uri="{BB962C8B-B14F-4D97-AF65-F5344CB8AC3E}">
        <p14:creationId xmlns:p14="http://schemas.microsoft.com/office/powerpoint/2010/main" val="646737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1997F-6778-938F-5854-2E7940E3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Testing Strategy: Confidence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A7754-F203-7CAA-9C20-A7164A026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Present testing as staged confidence, not one gate.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Static validation (lint/type/format).</a:t>
            </a:r>
          </a:p>
          <a:p>
            <a:r>
              <a:rPr lang="en-US" sz="2000">
                <a:latin typeface="Aptos" panose="020B0004020202020204" pitchFamily="34" charset="0"/>
              </a:rPr>
              <a:t>2) Unit tests (fast module confidence).</a:t>
            </a:r>
          </a:p>
          <a:p>
            <a:r>
              <a:rPr lang="en-US" sz="2000">
                <a:latin typeface="Aptos" panose="020B0004020202020204" pitchFamily="34" charset="0"/>
              </a:rPr>
              <a:t>3) Integration tests (cross-boundary behavior).</a:t>
            </a:r>
          </a:p>
          <a:p>
            <a:r>
              <a:rPr lang="en-US" sz="2000">
                <a:latin typeface="Aptos" panose="020B0004020202020204" pitchFamily="34" charset="0"/>
              </a:rPr>
              <a:t>4) Stability guard (flaky detection/quarantine).</a:t>
            </a:r>
          </a:p>
          <a:p>
            <a:r>
              <a:rPr lang="en-US" sz="2000">
                <a:latin typeface="Aptos" panose="020B0004020202020204" pitchFamily="34" charset="0"/>
              </a:rPr>
              <a:t>5) Post-merge runtime validation.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643D05-888F-DBE6-31A5-8671047434F4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843499-3B66-44CD-DBBA-A6BA5B24F7F0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Testing &amp; Vitest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36459A-057F-132D-C95A-59822F4DA018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63D52-E63D-097C-88CC-DC1DDC5EB17C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CCC76F-2763-5600-D705-A67F8CDDB00A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6E2244-E159-151F-1B5B-79510716AAC1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06CC4B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02860F-B3DA-4630-43A8-CAED10A2D19C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Static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4D1A7AF-547B-87C7-01C3-CF037522406E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44682A-127C-E5F7-8F1B-1227F62F0327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Unit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9E2704D-EA0D-C7A4-9760-0468A381C420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20F3A4-61C9-FABC-0741-3EB8BE2C032C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Integration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3DCE916-5D07-89A8-0A76-79F8067F8D26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F14586-1F23-092B-B5E6-E45C999C9663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Stability Guard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F688A05-7E8A-12F7-686D-7F2C352B8DCA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F4FB86-56F7-D48F-F041-308558D97DC3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Runtime Validation</a:t>
            </a:r>
          </a:p>
        </p:txBody>
      </p:sp>
    </p:spTree>
    <p:extLst>
      <p:ext uri="{BB962C8B-B14F-4D97-AF65-F5344CB8AC3E}">
        <p14:creationId xmlns:p14="http://schemas.microsoft.com/office/powerpoint/2010/main" val="2450830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AF8F6-A878-4196-BF24-96205DD24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Vitest Deep Dive: Core Quality Signal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7D689-B270-5615-F5AF-C186DC985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Show how Vitest drives merge and release decisions.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Authoring: tests evolve with code.</a:t>
            </a:r>
          </a:p>
          <a:p>
            <a:r>
              <a:rPr lang="en-US" sz="2000">
                <a:latin typeface="Aptos" panose="020B0004020202020204" pitchFamily="34" charset="0"/>
              </a:rPr>
              <a:t>2) Local run: immediate regression signal.</a:t>
            </a:r>
          </a:p>
          <a:p>
            <a:r>
              <a:rPr lang="en-US" sz="2000">
                <a:latin typeface="Aptos" panose="020B0004020202020204" pitchFamily="34" charset="0"/>
              </a:rPr>
              <a:t>3) CI run: standardized gate behavior.</a:t>
            </a:r>
          </a:p>
          <a:p>
            <a:r>
              <a:rPr lang="en-US" sz="2000">
                <a:latin typeface="Aptos" panose="020B0004020202020204" pitchFamily="34" charset="0"/>
              </a:rPr>
              <a:t>4) Triage: regression vs flaky classification.</a:t>
            </a:r>
          </a:p>
          <a:p>
            <a:r>
              <a:rPr lang="en-US" sz="2000">
                <a:latin typeface="Aptos" panose="020B0004020202020204" pitchFamily="34" charset="0"/>
              </a:rPr>
              <a:t>5) Learning: incidents become permanent tests.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581700-88DB-3BB5-B73E-2FF3CF764CC3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D6300-AFBD-EB70-842B-28176B531835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Testing &amp; Vitest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B903D9-4EBB-DC38-5BE9-77E415E2AF10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5A0559-D8E0-04F4-078A-6DEA363EA974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4B8A4C-0DD6-165A-A41F-8FC09CBE6EFB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195FB6-B098-41C3-84BE-2DA6967F36DE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06CC4B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BB6C3-E013-182F-2647-E5D10F133D59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Write Test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111DC7A-FAFF-FE2F-94E1-73B5AC73630C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CE3CF-62D6-9E97-D340-C1FD4928E791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Local Run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CD50071-C047-3C8E-4AB4-842D38A3E6EB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B4BF65-6AE0-50B2-A47C-1FE53335DFC6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CI Run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43102E8-F102-9779-6571-A7CEB5AE11AD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350F59-D03A-F489-1C23-D6CC1712C802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Triage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27FB303-E9B0-0D41-C4AC-15CA0DF3DE41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A19F2B-30FC-E806-1ED2-F4E51FBDE191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Fix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15B0E9F-6585-C67E-2F7B-41493A8F8378}"/>
              </a:ext>
            </a:extLst>
          </p:cNvPr>
          <p:cNvSpPr/>
          <p:nvPr/>
        </p:nvSpPr>
        <p:spPr>
          <a:xfrm>
            <a:off x="135128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4D7DCA-B6E5-8749-0213-006EEA9F79A3}"/>
              </a:ext>
            </a:extLst>
          </p:cNvPr>
          <p:cNvSpPr/>
          <p:nvPr/>
        </p:nvSpPr>
        <p:spPr>
          <a:xfrm>
            <a:off x="137922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Regression Proof</a:t>
            </a:r>
          </a:p>
        </p:txBody>
      </p:sp>
    </p:spTree>
    <p:extLst>
      <p:ext uri="{BB962C8B-B14F-4D97-AF65-F5344CB8AC3E}">
        <p14:creationId xmlns:p14="http://schemas.microsoft.com/office/powerpoint/2010/main" val="4149486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34322-CA36-9429-2335-13899E23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Vitest Failure Triage Playbook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39437-FC91-81AB-D1E4-011696333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Make failure response operational and repeatable.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Classify fail: regression, test bug, environment issue, flake.</a:t>
            </a:r>
          </a:p>
          <a:p>
            <a:r>
              <a:rPr lang="en-US" sz="2000">
                <a:latin typeface="Aptos" panose="020B0004020202020204" pitchFamily="34" charset="0"/>
              </a:rPr>
              <a:t>2) Assign owner and fix window.</a:t>
            </a:r>
          </a:p>
          <a:p>
            <a:r>
              <a:rPr lang="en-US" sz="2000">
                <a:latin typeface="Aptos" panose="020B0004020202020204" pitchFamily="34" charset="0"/>
              </a:rPr>
              <a:t>3) Decide: patch now, quarantine, or block release.</a:t>
            </a:r>
          </a:p>
          <a:p>
            <a:r>
              <a:rPr lang="en-US" sz="2000">
                <a:latin typeface="Aptos" panose="020B0004020202020204" pitchFamily="34" charset="0"/>
              </a:rPr>
              <a:t>4) Update suite and policy after resolution.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1CD862-8471-2595-2B2E-C667685190DA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70AAE-BCB6-966B-F851-1BA4437EB603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Testing &amp; Vitest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05CEB0-877F-9A2B-2FD1-29398269BB79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4D38FC-1C76-F469-E176-30F5C0BB32C9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D4CA2C-B37A-1A86-25AA-4C02BE4B72D1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3AA90-2D3B-4666-3E52-A91AB065946D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06CC4B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A22DAA-1FCB-1D08-5E46-BEE20EC43B5D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Fail Detected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B6EC292-8379-8A69-7549-04682FF34BE3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158892-ADD0-C28C-B01D-67C8D6F31513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Classify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EB30E80-9E56-22CD-6CE8-1302AD9B80C7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F013F3-1FF4-2324-9EAC-3F42037902BB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Assign Owner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5348406-0FAE-9B91-8CFE-D6911212A2F6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811A8F-882C-9D9A-4A02-54A8A5E5881F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Patch/Quarantine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D5A5760-164B-D9C3-93BA-5436F78019FE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0442D9-3A60-52FE-71DD-6F24C3DEA6A3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Policy Update</a:t>
            </a:r>
          </a:p>
        </p:txBody>
      </p:sp>
    </p:spTree>
    <p:extLst>
      <p:ext uri="{BB962C8B-B14F-4D97-AF65-F5344CB8AC3E}">
        <p14:creationId xmlns:p14="http://schemas.microsoft.com/office/powerpoint/2010/main" val="834104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2C2B7-1980-A6CE-6756-35CD0EA28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10-Round Engineering Completeness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B8BBD-9FFF-C797-A8AC-AE1990FB2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Demonstrate rigor beyond architecture diagrams.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Boundaries and topology.</a:t>
            </a:r>
          </a:p>
          <a:p>
            <a:r>
              <a:rPr lang="en-US" sz="2000">
                <a:latin typeface="Aptos" panose="020B0004020202020204" pitchFamily="34" charset="0"/>
              </a:rPr>
              <a:t>2) Execution path and determinism.</a:t>
            </a:r>
          </a:p>
          <a:p>
            <a:r>
              <a:rPr lang="en-US" sz="2000">
                <a:latin typeface="Aptos" panose="020B0004020202020204" pitchFamily="34" charset="0"/>
              </a:rPr>
              <a:t>3) Ownership and governance.</a:t>
            </a:r>
          </a:p>
          <a:p>
            <a:r>
              <a:rPr lang="en-US" sz="2000">
                <a:latin typeface="Aptos" panose="020B0004020202020204" pitchFamily="34" charset="0"/>
              </a:rPr>
              <a:t>4) Observability and resilience.</a:t>
            </a:r>
          </a:p>
          <a:p>
            <a:r>
              <a:rPr lang="en-US" sz="2000">
                <a:latin typeface="Aptos" panose="020B0004020202020204" pitchFamily="34" charset="0"/>
              </a:rPr>
              <a:t>5) Coverage sweep + watch items.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0E719-97BD-7006-865F-E14D77034DD1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C895B0-6E35-635F-2A34-0DF4BBA39DA8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Review &amp; Scorecard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1E6FBC-BEB3-B90E-B0AF-92DBD512B469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913F2-4393-77A4-CAF5-EA87BAD5CFC8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7D77A1-77FF-D865-B16B-5C5EE54ED658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ECFE21-9C62-CE94-AF26-264679559E5B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6A6A6A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181914-978C-F479-740E-6849DE27833F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Round 1-3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A007568-6052-363C-9E4E-E386B5AD306F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B3DAD7-F97D-6962-E89A-2F9D8463C4EF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Round 4-6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D12AAD6-E97C-9419-9B4E-351A2C45125E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E40EAB-46A6-6115-7C41-B95F5C4F4357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Round 7-8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5BC0F5C-EDE6-9AC6-2D13-F0532D373984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88F261-BB0A-EA00-F63A-998BF13F3949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Round 9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12F1179-812A-4F7B-D914-C0C3A1880368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D38E74-AE65-D15A-033F-3A1B5A0E94DC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Round 10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9036D48-94AA-F754-F069-587A7B152EAF}"/>
              </a:ext>
            </a:extLst>
          </p:cNvPr>
          <p:cNvSpPr/>
          <p:nvPr/>
        </p:nvSpPr>
        <p:spPr>
          <a:xfrm>
            <a:off x="135128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DF3F3F-A362-EEB9-D8DD-1B085199A807}"/>
              </a:ext>
            </a:extLst>
          </p:cNvPr>
          <p:cNvSpPr/>
          <p:nvPr/>
        </p:nvSpPr>
        <p:spPr>
          <a:xfrm>
            <a:off x="137922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Action Plan</a:t>
            </a:r>
          </a:p>
        </p:txBody>
      </p:sp>
    </p:spTree>
    <p:extLst>
      <p:ext uri="{BB962C8B-B14F-4D97-AF65-F5344CB8AC3E}">
        <p14:creationId xmlns:p14="http://schemas.microsoft.com/office/powerpoint/2010/main" val="3912744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D3D0-6FFA-C1ED-9A9D-46841603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en-US" sz="3400" b="1">
                <a:latin typeface="Aptos Display" panose="020B0004020202020204" pitchFamily="34" charset="0"/>
              </a:rPr>
              <a:t>Engineering Scorecard and Next Quarter</a:t>
            </a:r>
            <a:endParaRPr lang="nl-NL" sz="3400" b="1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55107-C29B-11AA-A8C9-9ADA4026E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End with measurable outcomes and next actions.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Core KPIs: lead time, deploy frequency, change-failure rate, MTTR.</a:t>
            </a:r>
          </a:p>
          <a:p>
            <a:r>
              <a:rPr lang="en-US" sz="2000">
                <a:latin typeface="Aptos" panose="020B0004020202020204" pitchFamily="34" charset="0"/>
              </a:rPr>
              <a:t>2) Test KPIs: pass trend, flaky trend, mean time to fix failures.</a:t>
            </a:r>
          </a:p>
          <a:p>
            <a:r>
              <a:rPr lang="en-US" sz="2000">
                <a:latin typeface="Aptos" panose="020B0004020202020204" pitchFamily="34" charset="0"/>
              </a:rPr>
              <a:t>3) Control KPIs: policy violations, alert precision, rollback speed.</a:t>
            </a:r>
          </a:p>
          <a:p>
            <a:r>
              <a:rPr lang="en-US" sz="2000">
                <a:latin typeface="Aptos" panose="020B0004020202020204" pitchFamily="34" charset="0"/>
              </a:rPr>
              <a:t>4) Next 90 days: top 3 hardening priorities.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AD92A7-3D5C-DB81-F0F5-915BEFC2D26A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1FD30-9649-BC9D-897D-B096C016F707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Review &amp; Scorecard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E0A505-BBA6-D8AE-61FD-4949738BACCF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56793C-12A6-5384-D697-48CC518DDF1C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97D5C4-8A31-99AB-33C0-336E552EDC22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D28B39-1495-0899-E09B-3A3611DA3E50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6A6A6A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A13A59-D9E2-2490-10EF-F72462301398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Measure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A5E75CB-0747-74F9-3691-6E9848B25BDE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88DE69-AE2D-DBB3-FDDA-0D27456D6FD6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Compare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C2849D7-9D03-BD14-1A40-55969B8EBB13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A9F325-E46D-9426-9BEC-E1E3765B81F4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Prioritize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5837F9A-C1B4-F17E-D8FA-3F01EE404F63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16443A-7432-5FC5-18A9-7D6C16E89917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Execute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83CAFC8-8DDB-47C3-6849-B586EE6A9908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021902-BB17-5EA6-985F-CC935AE8BE5E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879496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989451-B39B-B6B9-484A-258763C3860F}"/>
              </a:ext>
            </a:extLst>
          </p:cNvPr>
          <p:cNvSpPr txBox="1"/>
          <p:nvPr/>
        </p:nvSpPr>
        <p:spPr>
          <a:xfrm>
            <a:off x="431800" y="203200"/>
            <a:ext cx="15367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latin typeface="Aptos Display" panose="020B0004020202020204" pitchFamily="34" charset="0"/>
              </a:rPr>
              <a:t>Full 5-Layer Workflow Diagram: Trigger to Controlled Outcome</a:t>
            </a:r>
            <a:endParaRPr lang="nl-NL" sz="2400" b="1">
              <a:latin typeface="Aptos Display" panose="020B00040202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7FA0FC9-C628-F651-002C-AA60DD30A76C}"/>
              </a:ext>
            </a:extLst>
          </p:cNvPr>
          <p:cNvSpPr/>
          <p:nvPr/>
        </p:nvSpPr>
        <p:spPr>
          <a:xfrm>
            <a:off x="254000" y="1117600"/>
            <a:ext cx="2286000" cy="660400"/>
          </a:xfrm>
          <a:prstGeom prst="ellipse">
            <a:avLst/>
          </a:prstGeom>
          <a:solidFill>
            <a:srgbClr val="0000DD"/>
          </a:solidFill>
          <a:ln>
            <a:solidFill>
              <a:srgbClr val="E6D8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 b="1">
                <a:latin typeface="Aptos" panose="020B0004020202020204" pitchFamily="34" charset="0"/>
              </a:rPr>
              <a:t>Trigger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94BB34-87A7-DCB5-D6D1-E618321AF146}"/>
              </a:ext>
            </a:extLst>
          </p:cNvPr>
          <p:cNvSpPr/>
          <p:nvPr/>
        </p:nvSpPr>
        <p:spPr>
          <a:xfrm>
            <a:off x="13716000" y="8255000"/>
            <a:ext cx="2286000" cy="609600"/>
          </a:xfrm>
          <a:prstGeom prst="ellipse">
            <a:avLst/>
          </a:prstGeom>
          <a:solidFill>
            <a:srgbClr val="DDDDDD"/>
          </a:solidFill>
          <a:ln>
            <a:solidFill>
              <a:srgbClr val="1BD9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 b="1">
                <a:latin typeface="Aptos" panose="020B0004020202020204" pitchFamily="34" charset="0"/>
              </a:rPr>
              <a:t>Final Action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FE75D4-0855-D8BF-BEBD-640010AB7029}"/>
              </a:ext>
            </a:extLst>
          </p:cNvPr>
          <p:cNvSpPr/>
          <p:nvPr/>
        </p:nvSpPr>
        <p:spPr>
          <a:xfrm>
            <a:off x="381000" y="990600"/>
            <a:ext cx="15494000" cy="1295400"/>
          </a:xfrm>
          <a:prstGeom prst="rect">
            <a:avLst/>
          </a:prstGeom>
          <a:solidFill>
            <a:srgbClr val="F8F8F8"/>
          </a:solidFill>
          <a:ln w="15240">
            <a:solidFill>
              <a:srgbClr val="9E21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1D5F07-D9A9-81FA-E88D-4B2FB09196FB}"/>
              </a:ext>
            </a:extLst>
          </p:cNvPr>
          <p:cNvSpPr txBox="1"/>
          <p:nvPr/>
        </p:nvSpPr>
        <p:spPr>
          <a:xfrm>
            <a:off x="482600" y="1041400"/>
            <a:ext cx="406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100" b="1">
                <a:solidFill>
                  <a:srgbClr val="9E2113"/>
                </a:solidFill>
                <a:latin typeface="Aptos" panose="020B0004020202020204" pitchFamily="34" charset="0"/>
              </a:rPr>
              <a:t>1) Technical Environment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B7094A-769C-CF05-07F2-8712D8DCE375}"/>
              </a:ext>
            </a:extLst>
          </p:cNvPr>
          <p:cNvSpPr/>
          <p:nvPr/>
        </p:nvSpPr>
        <p:spPr>
          <a:xfrm>
            <a:off x="381000" y="2362200"/>
            <a:ext cx="15494000" cy="1295400"/>
          </a:xfrm>
          <a:prstGeom prst="rect">
            <a:avLst/>
          </a:prstGeom>
          <a:solidFill>
            <a:srgbClr val="F8F8F8"/>
          </a:solidFill>
          <a:ln w="15240">
            <a:solidFill>
              <a:srgbClr val="FF4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BF7DEE-6E08-59CE-A39E-480BBB9DF4DB}"/>
              </a:ext>
            </a:extLst>
          </p:cNvPr>
          <p:cNvSpPr txBox="1"/>
          <p:nvPr/>
        </p:nvSpPr>
        <p:spPr>
          <a:xfrm>
            <a:off x="482600" y="2413000"/>
            <a:ext cx="406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100" b="1">
                <a:solidFill>
                  <a:srgbClr val="FF4C95"/>
                </a:solidFill>
                <a:latin typeface="Aptos" panose="020B0004020202020204" pitchFamily="34" charset="0"/>
              </a:rPr>
              <a:t>2) Workforce &amp; Runtime Actors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01F189-0D9A-3D87-1D54-8FFF3BBC505E}"/>
              </a:ext>
            </a:extLst>
          </p:cNvPr>
          <p:cNvSpPr/>
          <p:nvPr/>
        </p:nvSpPr>
        <p:spPr>
          <a:xfrm>
            <a:off x="381000" y="3733800"/>
            <a:ext cx="15494000" cy="1295400"/>
          </a:xfrm>
          <a:prstGeom prst="rect">
            <a:avLst/>
          </a:prstGeom>
          <a:solidFill>
            <a:srgbClr val="F8F8F8"/>
          </a:solidFill>
          <a:ln w="15240"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94EB26-9BFB-19F8-3D40-31F3C4C1E591}"/>
              </a:ext>
            </a:extLst>
          </p:cNvPr>
          <p:cNvSpPr txBox="1"/>
          <p:nvPr/>
        </p:nvSpPr>
        <p:spPr>
          <a:xfrm>
            <a:off x="482600" y="3784600"/>
            <a:ext cx="406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100" b="1">
                <a:solidFill>
                  <a:srgbClr val="245FA0"/>
                </a:solidFill>
                <a:latin typeface="Aptos" panose="020B0004020202020204" pitchFamily="34" charset="0"/>
              </a:rPr>
              <a:t>3) Agents, Skills, Markdown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949AEB-49DA-6697-BC77-8E4C7B42CB1C}"/>
              </a:ext>
            </a:extLst>
          </p:cNvPr>
          <p:cNvSpPr/>
          <p:nvPr/>
        </p:nvSpPr>
        <p:spPr>
          <a:xfrm>
            <a:off x="381000" y="5105400"/>
            <a:ext cx="15494000" cy="1295400"/>
          </a:xfrm>
          <a:prstGeom prst="rect">
            <a:avLst/>
          </a:prstGeom>
          <a:solidFill>
            <a:srgbClr val="F8F8F8"/>
          </a:solidFill>
          <a:ln w="15240"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237456-A1E6-CB5A-CF25-C73F6A488181}"/>
              </a:ext>
            </a:extLst>
          </p:cNvPr>
          <p:cNvSpPr txBox="1"/>
          <p:nvPr/>
        </p:nvSpPr>
        <p:spPr>
          <a:xfrm>
            <a:off x="482600" y="5156200"/>
            <a:ext cx="406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100" b="1">
                <a:solidFill>
                  <a:srgbClr val="06CC4B"/>
                </a:solidFill>
                <a:latin typeface="Aptos" panose="020B0004020202020204" pitchFamily="34" charset="0"/>
              </a:rPr>
              <a:t>4) Automation Layer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7EB429-2351-C2D2-4D90-3E83A3CC3760}"/>
              </a:ext>
            </a:extLst>
          </p:cNvPr>
          <p:cNvSpPr/>
          <p:nvPr/>
        </p:nvSpPr>
        <p:spPr>
          <a:xfrm>
            <a:off x="381000" y="6477000"/>
            <a:ext cx="15494000" cy="1295400"/>
          </a:xfrm>
          <a:prstGeom prst="rect">
            <a:avLst/>
          </a:prstGeom>
          <a:solidFill>
            <a:srgbClr val="F8F8F8"/>
          </a:solidFill>
          <a:ln w="15240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4DD526-46B6-8B77-2DAD-01FB30C8DFEC}"/>
              </a:ext>
            </a:extLst>
          </p:cNvPr>
          <p:cNvSpPr txBox="1"/>
          <p:nvPr/>
        </p:nvSpPr>
        <p:spPr>
          <a:xfrm>
            <a:off x="482600" y="6527800"/>
            <a:ext cx="406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100" b="1">
                <a:solidFill>
                  <a:srgbClr val="6A6A6A"/>
                </a:solidFill>
                <a:latin typeface="Aptos" panose="020B0004020202020204" pitchFamily="34" charset="0"/>
              </a:rPr>
              <a:t>5) Control Layer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4B2C52-905B-68FE-C694-DA520ED4A763}"/>
              </a:ext>
            </a:extLst>
          </p:cNvPr>
          <p:cNvSpPr/>
          <p:nvPr/>
        </p:nvSpPr>
        <p:spPr>
          <a:xfrm>
            <a:off x="2921000" y="1244600"/>
            <a:ext cx="2159000" cy="787400"/>
          </a:xfrm>
          <a:prstGeom prst="rect">
            <a:avLst/>
          </a:prstGeom>
          <a:solidFill>
            <a:srgbClr val="9E2113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Local implementation
src/*, functions/api/*, worker/*</a:t>
            </a:r>
            <a:endParaRPr lang="nl-NL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1F24DB-BF9A-BC72-5909-3EBBD3324817}"/>
              </a:ext>
            </a:extLst>
          </p:cNvPr>
          <p:cNvSpPr/>
          <p:nvPr/>
        </p:nvSpPr>
        <p:spPr>
          <a:xfrm>
            <a:off x="5334000" y="1244600"/>
            <a:ext cx="2159000" cy="787400"/>
          </a:xfrm>
          <a:prstGeom prst="rect">
            <a:avLst/>
          </a:prstGeom>
          <a:solidFill>
            <a:srgbClr val="9E2113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b="1">
                <a:solidFill>
                  <a:srgbClr val="FFFFFF"/>
                </a:solidFill>
                <a:latin typeface="Aptos" panose="020B0004020202020204" pitchFamily="34" charset="0"/>
              </a:rPr>
              <a:t>GitHub PR
POST /repos/.../pulls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15D5BA-C049-3C07-EFBF-D387E471E504}"/>
              </a:ext>
            </a:extLst>
          </p:cNvPr>
          <p:cNvSpPr/>
          <p:nvPr/>
        </p:nvSpPr>
        <p:spPr>
          <a:xfrm>
            <a:off x="7747000" y="1244600"/>
            <a:ext cx="2159000" cy="787400"/>
          </a:xfrm>
          <a:prstGeom prst="rect">
            <a:avLst/>
          </a:prstGeom>
          <a:solidFill>
            <a:srgbClr val="9E2113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b="1">
                <a:solidFill>
                  <a:srgbClr val="FFFFFF"/>
                </a:solidFill>
                <a:latin typeface="Aptos" panose="020B0004020202020204" pitchFamily="34" charset="0"/>
              </a:rPr>
              <a:t>Cloudflare deploy
POST /.../deployments</a:t>
            </a: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C1300521-3BBD-F475-6159-65EB5EE165D2}"/>
              </a:ext>
            </a:extLst>
          </p:cNvPr>
          <p:cNvSpPr/>
          <p:nvPr/>
        </p:nvSpPr>
        <p:spPr>
          <a:xfrm>
            <a:off x="10350500" y="1270000"/>
            <a:ext cx="1092200" cy="736600"/>
          </a:xfrm>
          <a:prstGeom prst="diamond">
            <a:avLst/>
          </a:prstGeom>
          <a:solidFill>
            <a:srgbClr val="9E2113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b="1">
                <a:solidFill>
                  <a:srgbClr val="FFFFFF"/>
                </a:solidFill>
                <a:latin typeface="Aptos" panose="020B0004020202020204" pitchFamily="34" charset="0"/>
              </a:rPr>
              <a:t>Healthy?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98C857-94E3-9502-C394-62B6ED55C20F}"/>
              </a:ext>
            </a:extLst>
          </p:cNvPr>
          <p:cNvSpPr/>
          <p:nvPr/>
        </p:nvSpPr>
        <p:spPr>
          <a:xfrm>
            <a:off x="11430000" y="2616200"/>
            <a:ext cx="2159000" cy="787400"/>
          </a:xfrm>
          <a:prstGeom prst="rect">
            <a:avLst/>
          </a:prstGeom>
          <a:solidFill>
            <a:srgbClr val="FF4C9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Ownership routing
GET /api/backlog</a:t>
            </a:r>
            <a:endParaRPr lang="nl-NL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8EEBB9-5412-D781-8736-95F242C69F33}"/>
              </a:ext>
            </a:extLst>
          </p:cNvPr>
          <p:cNvSpPr/>
          <p:nvPr/>
        </p:nvSpPr>
        <p:spPr>
          <a:xfrm>
            <a:off x="13843000" y="2616200"/>
            <a:ext cx="2159000" cy="787400"/>
          </a:xfrm>
          <a:prstGeom prst="rect">
            <a:avLst/>
          </a:prstGeom>
          <a:solidFill>
            <a:srgbClr val="FF4C9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Runtime execution
POST /api/sessions
WS /api/realtime/{id}</a:t>
            </a:r>
            <a:endParaRPr lang="nl-NL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D485E4-3CBF-7AC8-8D24-EB1E6430B715}"/>
              </a:ext>
            </a:extLst>
          </p:cNvPr>
          <p:cNvSpPr/>
          <p:nvPr/>
        </p:nvSpPr>
        <p:spPr>
          <a:xfrm>
            <a:off x="2921000" y="3987800"/>
            <a:ext cx="2159000" cy="787400"/>
          </a:xfrm>
          <a:prstGeom prst="rect">
            <a:avLst/>
          </a:prstGeom>
          <a:solidFill>
            <a:srgbClr val="245FA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Task intake
POST /agent/tasks</a:t>
            </a:r>
            <a:endParaRPr lang="nl-NL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D9A0BA-88CB-9803-D12C-A28F28E6A889}"/>
              </a:ext>
            </a:extLst>
          </p:cNvPr>
          <p:cNvSpPr/>
          <p:nvPr/>
        </p:nvSpPr>
        <p:spPr>
          <a:xfrm>
            <a:off x="5334000" y="3987800"/>
            <a:ext cx="2159000" cy="787400"/>
          </a:xfrm>
          <a:prstGeom prst="rect">
            <a:avLst/>
          </a:prstGeom>
          <a:solidFill>
            <a:srgbClr val="245FA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Skill/policy load
GET /docs/spec/*</a:t>
            </a:r>
            <a:endParaRPr lang="nl-NL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152692-81B3-139D-C691-B8007CA0C507}"/>
              </a:ext>
            </a:extLst>
          </p:cNvPr>
          <p:cNvSpPr/>
          <p:nvPr/>
        </p:nvSpPr>
        <p:spPr>
          <a:xfrm>
            <a:off x="7747000" y="3987800"/>
            <a:ext cx="2159000" cy="787400"/>
          </a:xfrm>
          <a:prstGeom prst="rect">
            <a:avLst/>
          </a:prstGeom>
          <a:solidFill>
            <a:srgbClr val="245FA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b="1">
                <a:solidFill>
                  <a:srgbClr val="FFFFFF"/>
                </a:solidFill>
                <a:latin typeface="Aptos" panose="020B0004020202020204" pitchFamily="34" charset="0"/>
              </a:rPr>
              <a:t>Artifact output
PUT /repos/.../contents/{path}</a:t>
            </a: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6D5BB62B-83D9-9B21-BB7F-0DD64BA690ED}"/>
              </a:ext>
            </a:extLst>
          </p:cNvPr>
          <p:cNvSpPr/>
          <p:nvPr/>
        </p:nvSpPr>
        <p:spPr>
          <a:xfrm>
            <a:off x="10350500" y="4013200"/>
            <a:ext cx="1219200" cy="736600"/>
          </a:xfrm>
          <a:prstGeom prst="diamond">
            <a:avLst/>
          </a:prstGeom>
          <a:solidFill>
            <a:srgbClr val="245FA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b="1">
                <a:solidFill>
                  <a:srgbClr val="FFFFFF"/>
                </a:solidFill>
                <a:latin typeface="Aptos" panose="020B0004020202020204" pitchFamily="34" charset="0"/>
              </a:rPr>
              <a:t>Approved?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D68CE4-F5B2-00DF-DA3E-B67FCE60EF0D}"/>
              </a:ext>
            </a:extLst>
          </p:cNvPr>
          <p:cNvSpPr/>
          <p:nvPr/>
        </p:nvSpPr>
        <p:spPr>
          <a:xfrm>
            <a:off x="11684000" y="5359400"/>
            <a:ext cx="2159000" cy="787400"/>
          </a:xfrm>
          <a:prstGeom prst="rect">
            <a:avLst/>
          </a:prstGeom>
          <a:solidFill>
            <a:srgbClr val="06CC4B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b="1">
                <a:solidFill>
                  <a:srgbClr val="FFFFFF"/>
                </a:solidFill>
                <a:latin typeface="Aptos" panose="020B0004020202020204" pitchFamily="34" charset="0"/>
              </a:rPr>
              <a:t>CI trigger
POST /repos/.../dispatches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62DFF3-659B-A932-03F5-158C842AFA33}"/>
              </a:ext>
            </a:extLst>
          </p:cNvPr>
          <p:cNvSpPr/>
          <p:nvPr/>
        </p:nvSpPr>
        <p:spPr>
          <a:xfrm>
            <a:off x="14097000" y="5359400"/>
            <a:ext cx="2159000" cy="787400"/>
          </a:xfrm>
          <a:prstGeom prst="rect">
            <a:avLst/>
          </a:prstGeom>
          <a:solidFill>
            <a:srgbClr val="06CC4B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Quality gates
GET /repos/.../runs/{id}</a:t>
            </a:r>
            <a:endParaRPr lang="nl-NL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AF3D125C-5289-A2A2-8AA3-40F0156174DF}"/>
              </a:ext>
            </a:extLst>
          </p:cNvPr>
          <p:cNvSpPr/>
          <p:nvPr/>
        </p:nvSpPr>
        <p:spPr>
          <a:xfrm>
            <a:off x="14097000" y="6273800"/>
            <a:ext cx="1219200" cy="736600"/>
          </a:xfrm>
          <a:prstGeom prst="diamond">
            <a:avLst/>
          </a:prstGeom>
          <a:solidFill>
            <a:srgbClr val="06CC4B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b="1">
                <a:solidFill>
                  <a:srgbClr val="FFFFFF"/>
                </a:solidFill>
                <a:latin typeface="Aptos" panose="020B0004020202020204" pitchFamily="34" charset="0"/>
              </a:rPr>
              <a:t>All pass?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452ABE-6BC2-24B4-809A-E8E8ED478BE0}"/>
              </a:ext>
            </a:extLst>
          </p:cNvPr>
          <p:cNvSpPr/>
          <p:nvPr/>
        </p:nvSpPr>
        <p:spPr>
          <a:xfrm>
            <a:off x="2921000" y="6731000"/>
            <a:ext cx="2159000" cy="787400"/>
          </a:xfrm>
          <a:prstGeom prst="rect">
            <a:avLst/>
          </a:prstGeom>
          <a:solidFill>
            <a:srgbClr val="6A6A6A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b="1">
                <a:solidFill>
                  <a:srgbClr val="FFFFFF"/>
                </a:solidFill>
                <a:latin typeface="Aptos" panose="020B0004020202020204" pitchFamily="34" charset="0"/>
              </a:rPr>
              <a:t>Preventive
RBAC / branch protection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CBCB29-AE83-D437-DBB7-A2DC26C620FA}"/>
              </a:ext>
            </a:extLst>
          </p:cNvPr>
          <p:cNvSpPr/>
          <p:nvPr/>
        </p:nvSpPr>
        <p:spPr>
          <a:xfrm>
            <a:off x="5334000" y="6731000"/>
            <a:ext cx="2159000" cy="787400"/>
          </a:xfrm>
          <a:prstGeom prst="rect">
            <a:avLst/>
          </a:prstGeom>
          <a:solidFill>
            <a:srgbClr val="6A6A6A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b="1">
                <a:solidFill>
                  <a:srgbClr val="FFFFFF"/>
                </a:solidFill>
                <a:latin typeface="Aptos" panose="020B0004020202020204" pitchFamily="34" charset="0"/>
              </a:rPr>
              <a:t>Detective
logs / metrics / alerts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842E87-EB5F-4739-7043-C5C5B4BC7AEE}"/>
              </a:ext>
            </a:extLst>
          </p:cNvPr>
          <p:cNvSpPr/>
          <p:nvPr/>
        </p:nvSpPr>
        <p:spPr>
          <a:xfrm>
            <a:off x="7747000" y="6731000"/>
            <a:ext cx="2159000" cy="787400"/>
          </a:xfrm>
          <a:prstGeom prst="rect">
            <a:avLst/>
          </a:prstGeom>
          <a:solidFill>
            <a:srgbClr val="6A6A6A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b="1">
                <a:solidFill>
                  <a:srgbClr val="FFFFFF"/>
                </a:solidFill>
                <a:latin typeface="Aptos" panose="020B0004020202020204" pitchFamily="34" charset="0"/>
              </a:rPr>
              <a:t>Corrective
rollback / incident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65250F49-7A07-2A04-C4D6-EF26AEE86D9A}"/>
              </a:ext>
            </a:extLst>
          </p:cNvPr>
          <p:cNvSpPr/>
          <p:nvPr/>
        </p:nvSpPr>
        <p:spPr>
          <a:xfrm>
            <a:off x="5105400" y="1549400"/>
            <a:ext cx="203200" cy="1524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A729C026-D133-528B-9428-BDA6E361EC63}"/>
              </a:ext>
            </a:extLst>
          </p:cNvPr>
          <p:cNvSpPr/>
          <p:nvPr/>
        </p:nvSpPr>
        <p:spPr>
          <a:xfrm>
            <a:off x="7518400" y="1549400"/>
            <a:ext cx="203200" cy="1524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25583DD0-DDDF-CFB2-048A-19DBFEE73F0B}"/>
              </a:ext>
            </a:extLst>
          </p:cNvPr>
          <p:cNvSpPr/>
          <p:nvPr/>
        </p:nvSpPr>
        <p:spPr>
          <a:xfrm>
            <a:off x="9969500" y="1549400"/>
            <a:ext cx="304800" cy="1524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C795E721-E1CC-73BF-8A3E-2DCB0B3A9387}"/>
              </a:ext>
            </a:extLst>
          </p:cNvPr>
          <p:cNvSpPr/>
          <p:nvPr/>
        </p:nvSpPr>
        <p:spPr>
          <a:xfrm>
            <a:off x="11328400" y="2921000"/>
            <a:ext cx="152400" cy="2032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D3B013A7-A099-0431-4667-206AFDA40EC6}"/>
              </a:ext>
            </a:extLst>
          </p:cNvPr>
          <p:cNvSpPr/>
          <p:nvPr/>
        </p:nvSpPr>
        <p:spPr>
          <a:xfrm>
            <a:off x="13741400" y="2921000"/>
            <a:ext cx="152400" cy="2032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3DBD65F3-E9EE-0FE2-100D-048DED36A7DF}"/>
              </a:ext>
            </a:extLst>
          </p:cNvPr>
          <p:cNvSpPr/>
          <p:nvPr/>
        </p:nvSpPr>
        <p:spPr>
          <a:xfrm>
            <a:off x="5105400" y="4292600"/>
            <a:ext cx="203200" cy="1524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93C7964F-F073-75F1-DFB3-A044273D270F}"/>
              </a:ext>
            </a:extLst>
          </p:cNvPr>
          <p:cNvSpPr/>
          <p:nvPr/>
        </p:nvSpPr>
        <p:spPr>
          <a:xfrm>
            <a:off x="7518400" y="4292600"/>
            <a:ext cx="203200" cy="1524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55797E8B-05E1-D3E8-0FC0-DF78E51696CD}"/>
              </a:ext>
            </a:extLst>
          </p:cNvPr>
          <p:cNvSpPr/>
          <p:nvPr/>
        </p:nvSpPr>
        <p:spPr>
          <a:xfrm>
            <a:off x="9969500" y="4292600"/>
            <a:ext cx="304800" cy="1524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EA772C4D-2D9D-7ADB-4767-E34BC9D41B85}"/>
              </a:ext>
            </a:extLst>
          </p:cNvPr>
          <p:cNvSpPr/>
          <p:nvPr/>
        </p:nvSpPr>
        <p:spPr>
          <a:xfrm>
            <a:off x="13995400" y="5664200"/>
            <a:ext cx="152400" cy="2032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DD6A8AAB-13C8-EC58-E851-5655E41DC102}"/>
              </a:ext>
            </a:extLst>
          </p:cNvPr>
          <p:cNvSpPr/>
          <p:nvPr/>
        </p:nvSpPr>
        <p:spPr>
          <a:xfrm>
            <a:off x="13995400" y="6578600"/>
            <a:ext cx="152400" cy="2032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A7230AE8-98A8-EBF9-3B24-8CE0B41495E9}"/>
              </a:ext>
            </a:extLst>
          </p:cNvPr>
          <p:cNvSpPr/>
          <p:nvPr/>
        </p:nvSpPr>
        <p:spPr>
          <a:xfrm>
            <a:off x="5105400" y="7035800"/>
            <a:ext cx="203200" cy="1524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91BA7A50-3A28-B2EA-41A6-AA2E9C196DAE}"/>
              </a:ext>
            </a:extLst>
          </p:cNvPr>
          <p:cNvSpPr/>
          <p:nvPr/>
        </p:nvSpPr>
        <p:spPr>
          <a:xfrm>
            <a:off x="7518400" y="7035800"/>
            <a:ext cx="203200" cy="1524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C4448C-A8DF-A929-7B23-E0F300766B30}"/>
              </a:ext>
            </a:extLst>
          </p:cNvPr>
          <p:cNvSpPr txBox="1"/>
          <p:nvPr/>
        </p:nvSpPr>
        <p:spPr>
          <a:xfrm>
            <a:off x="11684000" y="7747000"/>
            <a:ext cx="40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000">
                <a:solidFill>
                  <a:srgbClr val="808080"/>
                </a:solidFill>
                <a:latin typeface="Aptos" panose="020B0004020202020204" pitchFamily="34" charset="0"/>
              </a:rPr>
              <a:t>Feedback: observability -&gt; implementation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3B81C2-64E9-A08F-DB29-013D122B7B58}"/>
              </a:ext>
            </a:extLst>
          </p:cNvPr>
          <p:cNvSpPr txBox="1"/>
          <p:nvPr/>
        </p:nvSpPr>
        <p:spPr>
          <a:xfrm>
            <a:off x="11684000" y="8001000"/>
            <a:ext cx="40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808080"/>
                </a:solidFill>
                <a:latin typeface="Aptos" panose="020B0004020202020204" pitchFamily="34" charset="0"/>
              </a:rPr>
              <a:t>Failure loop: corrective -&gt; agent task intake</a:t>
            </a:r>
            <a:endParaRPr lang="nl-NL" sz="10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4CD4FBBF-DA48-283B-02D3-D169B2AF6B1C}"/>
              </a:ext>
            </a:extLst>
          </p:cNvPr>
          <p:cNvSpPr/>
          <p:nvPr/>
        </p:nvSpPr>
        <p:spPr>
          <a:xfrm>
            <a:off x="12446000" y="8483600"/>
            <a:ext cx="1143000" cy="1524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5521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1578</Words>
  <Application>Microsoft Office PowerPoint</Application>
  <PresentationFormat>On-screen Show (16:10)</PresentationFormat>
  <Paragraphs>309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From Idea to Edge Reliability</vt:lpstr>
      <vt:lpstr>The 5-Layer System Map</vt:lpstr>
      <vt:lpstr>Technical Environment: Build to Edge Execution</vt:lpstr>
      <vt:lpstr>Workforce and Runtime Ownership Model</vt:lpstr>
      <vt:lpstr>Agents, Skills, and Markdown Control Plane</vt:lpstr>
      <vt:lpstr>Automation Layer: Deterministic Delivery</vt:lpstr>
      <vt:lpstr>Control Layer: Prevent, Detect, Correct</vt:lpstr>
      <vt:lpstr>Testing Strategy: Confidence Pipeline</vt:lpstr>
      <vt:lpstr>Vitest Deep Dive: Core Quality Signal</vt:lpstr>
      <vt:lpstr>Vitest Failure Triage Playbook</vt:lpstr>
      <vt:lpstr>10-Round Engineering Completeness Review</vt:lpstr>
      <vt:lpstr>Engineering Scorecard and Next Quarter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Oostelaar</dc:creator>
  <cp:lastModifiedBy>Jens Oostelaar</cp:lastModifiedBy>
  <cp:revision>1</cp:revision>
  <dcterms:created xsi:type="dcterms:W3CDTF">2026-04-28T18:43:06Z</dcterms:created>
  <dcterms:modified xsi:type="dcterms:W3CDTF">2026-04-28T18:43:06Z</dcterms:modified>
</cp:coreProperties>
</file>